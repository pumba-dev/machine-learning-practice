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dPt>
            <c:idx val="0"/>
            <c:spPr>
              <a:solidFill>
                <a:srgbClr val="09846C"/>
              </a:solidFill>
            </c:spPr>
          </c:dPt>
          <c:dPt>
            <c:idx val="1"/>
            <c:spPr>
              <a:solidFill>
                <a:srgbClr val="4E9C8A"/>
              </a:solidFill>
            </c:spPr>
          </c:dPt>
          <c:dPt>
            <c:idx val="2"/>
            <c:spPr>
              <a:solidFill>
                <a:srgbClr val="4E9C8A"/>
              </a:solidFill>
            </c:spPr>
          </c:dPt>
          <c:dPt>
            <c:idx val="3"/>
            <c:spPr>
              <a:solidFill>
                <a:srgbClr val="4E9C8A"/>
              </a:solidFill>
            </c:spPr>
          </c:dPt>
          <c:dPt>
            <c:idx val="4"/>
            <c:spPr>
              <a:solidFill>
                <a:srgbClr val="4E9C8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45,1%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44,9%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43,3%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38,7%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37,8%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HBD</c:v>
                </c:pt>
                <c:pt idx="1">
                  <c:v>TPSA</c:v>
                </c:pt>
                <c:pt idx="2">
                  <c:v>HBA</c:v>
                </c:pt>
                <c:pt idx="3">
                  <c:v>LogP</c:v>
                </c:pt>
                <c:pt idx="4">
                  <c:v>Massa molecular</c:v>
                </c:pt>
              </c:strCache>
            </c:strRef>
          </c:cat>
          <c:val>
            <c:numRef>
              <c:f>Sheet1!$B$2:$B$6</c:f>
              <c:numCache>
                <c:formatCode>0.0"%"</c:formatCode>
                <c:ptCount val="5"/>
                <c:pt idx="0">
                  <c:v>45.141198231023836</c:v>
                </c:pt>
                <c:pt idx="1">
                  <c:v>44.890058846668865</c:v>
                </c:pt>
                <c:pt idx="2">
                  <c:v>43.26322195776761</c:v>
                </c:pt>
                <c:pt idx="3">
                  <c:v>38.71015134838738</c:v>
                </c:pt>
                <c:pt idx="4">
                  <c:v>37.7966266806002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A9795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F2A2E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Divisão aleatória</c:v>
                </c:pt>
              </c:strCache>
            </c:strRef>
          </c:tx>
          <c:spPr>
            <a:solidFill>
              <a:srgbClr val="8A9795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1F2A2E"/>
                        </a:solidFill>
                      </a:rPr>
                      <a:t>81,2%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1F2A2E"/>
                        </a:solidFill>
                      </a:rPr>
                      <a:t>88,9%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1F2A2E"/>
                        </a:solidFill>
                      </a:rPr>
                      <a:t>90,8%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Descritores (5)</c:v>
                </c:pt>
                <c:pt idx="1">
                  <c:v>SMILES (12)</c:v>
                </c:pt>
                <c:pt idx="2">
                  <c:v>Ambos (17)</c:v>
                </c:pt>
              </c:strCache>
            </c:strRef>
          </c:cat>
          <c:val>
            <c:numRef>
              <c:f>Sheet1!$B$2:$B$4</c:f>
              <c:numCache>
                <c:formatCode>0.0"%"</c:formatCode>
                <c:ptCount val="3"/>
                <c:pt idx="0">
                  <c:v>81.21000000000001</c:v>
                </c:pt>
                <c:pt idx="1">
                  <c:v>88.88000000000001</c:v>
                </c:pt>
                <c:pt idx="2">
                  <c:v>90.76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Divisão agrupada</c:v>
                </c:pt>
              </c:strCache>
            </c:strRef>
          </c:tx>
          <c:spPr>
            <a:solidFill>
              <a:srgbClr val="09846C"/>
            </a:solidFill>
          </c:spPr>
          <c:dLbls>
            <c:dLbl>
              <c:idx val="0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1F2A2E"/>
                        </a:solidFill>
                      </a:rPr>
                      <a:t>77,1%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1F2A2E"/>
                        </a:solidFill>
                      </a:rPr>
                      <a:t>87,6%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800" b="1">
                        <a:solidFill>
                          <a:srgbClr val="1F2A2E"/>
                        </a:solidFill>
                      </a:rPr>
                      <a:t>89,4%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Descritores (5)</c:v>
                </c:pt>
                <c:pt idx="1">
                  <c:v>SMILES (12)</c:v>
                </c:pt>
                <c:pt idx="2">
                  <c:v>Ambos (17)</c:v>
                </c:pt>
              </c:strCache>
            </c:strRef>
          </c:cat>
          <c:val>
            <c:numRef>
              <c:f>Sheet1!$C$2:$C$4</c:f>
              <c:numCache>
                <c:formatCode>0.0"%"</c:formatCode>
                <c:ptCount val="3"/>
                <c:pt idx="0">
                  <c:v>77.14999999999999</c:v>
                </c:pt>
                <c:pt idx="1">
                  <c:v>87.6</c:v>
                </c:pt>
                <c:pt idx="2">
                  <c:v>89.41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5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A9795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DDE5E3"/>
              </a:solidFill>
            </a:ln>
          </c:spPr>
        </c:majorGridlines>
        <c:numFmt formatCode="0&quot;%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800">
                <a:solidFill>
                  <a:srgbClr val="3C4649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b"/>
      <c:overlay val="0"/>
    </c:legend>
    <c:dispBlanksAs val="gap"/>
  </c:chart>
  <c:txPr>
    <a:bodyPr/>
    <a:lstStyle/>
    <a:p>
      <a:pPr>
        <a:defRPr sz="1800">
          <a:solidFill>
            <a:srgbClr val="1F2A2E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Acurácia</c:v>
                </c:pt>
              </c:strCache>
            </c:strRef>
          </c:tx>
          <c:dPt>
            <c:idx val="0"/>
            <c:spPr>
              <a:solidFill>
                <a:srgbClr val="8A9795"/>
              </a:solidFill>
            </c:spPr>
          </c:dPt>
          <c:dPt>
            <c:idx val="1"/>
            <c:spPr>
              <a:solidFill>
                <a:srgbClr val="09846C"/>
              </a:solidFill>
            </c:spPr>
          </c:dPt>
          <c:dPt>
            <c:idx val="2"/>
            <c:spPr>
              <a:solidFill>
                <a:srgbClr val="4E9C8A"/>
              </a:solidFill>
            </c:spPr>
          </c:dPt>
          <c:dPt>
            <c:idx val="3"/>
            <c:spPr>
              <a:solidFill>
                <a:srgbClr val="4E9C8A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29,3%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89,4%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94,8%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2000" b="1">
                        <a:solidFill>
                          <a:srgbClr val="1F2A2E"/>
                        </a:solidFill>
                      </a:rPr>
                      <a:t>95,2%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Sempre EGFR</c:v>
                </c:pt>
                <c:pt idx="1">
                  <c:v>Árvore de decisão</c:v>
                </c:pt>
                <c:pt idx="2">
                  <c:v>Gradient boosting</c:v>
                </c:pt>
                <c:pt idx="3">
                  <c:v>Random Forest</c:v>
                </c:pt>
              </c:strCache>
            </c:strRef>
          </c:cat>
          <c:val>
            <c:numRef>
              <c:f>Sheet1!$B$2:$B$5</c:f>
              <c:numCache>
                <c:formatCode>0.0"%"</c:formatCode>
                <c:ptCount val="4"/>
                <c:pt idx="0">
                  <c:v>29.300000000000004</c:v>
                </c:pt>
                <c:pt idx="1">
                  <c:v>89.41</c:v>
                </c:pt>
                <c:pt idx="2">
                  <c:v>94.78999999999999</c:v>
                </c:pt>
                <c:pt idx="3">
                  <c:v>95.16999999999997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2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8A9795"/>
            </a:solidFill>
          </a:ln>
        </c:spPr>
        <c:txPr>
          <a:bodyPr/>
          <a:lstStyle/>
          <a:p>
            <a:pPr>
              <a:defRPr sz="1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F2A2E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[Thiago · 0:15] Bom dia, professor e colegas. Eu sou o Thiago e, com o Paulo e o Bernan, vou apresentar como usamos uma árvore de decisão para descobrir a qual proteína uma molécula está associada, e como avaliamos o resultado sem nos enganar.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Disciplina: PPGCC010 – Aprendizagem de Máquina (UFPI, 2026.2), Prof. Vinicius Ponte Machado. O relatório segue o formato de artigo da SBC e tem 10 páginas.</a:t>
            </a:r>
          </a:p>
          <a:p>
            <a:r>
              <a:t>• ChEMBL: banco aberto e curado de moléculas e das suas medições de potência contra proteínas, mantido pelo EMBL-EBI (Gaulton et al., 2012; Zdrazil et al., 2024). Usamos a versão ChEMBL_37, extraída em 24/10/2026 pela API REST (Davies et al., 2015).</a:t>
            </a:r>
          </a:p>
          <a:p>
            <a:r>
              <a:t>• Alvo é a proteína com a qual a molécula interage. Aqui os 4 alvos são as 4 classes do problema.</a:t>
            </a:r>
          </a:p>
          <a:p>
            <a:r>
              <a:t>• Em uma frase, o trabalho é: calcular números de cada molécula, prever com uma árvore de decisão qual das 4 proteínas ela está associada e medir isso de forma honesta. Resultado: 89,4% de acurácia na divisão agrupada (média de 10 seeds).</a:t>
            </a:r>
          </a:p>
          <a:p>
            <a:r>
              <a:t>• Código, notebooks e dados: github.com/pumba-dev/machine-learning-practice (o DATASET.md descreve a base e traz o hash SHA-256 de cada arquivo).</a:t>
            </a:r>
          </a:p>
          <a:p/>
          <a:p>
            <a:r>
              <a:t>PERGUNTAS PROVÁVEIS</a:t>
            </a:r>
          </a:p>
          <a:p>
            <a:r>
              <a:t>P: Isso é um trabalho de biologia?</a:t>
            </a:r>
          </a:p>
          <a:p>
            <a:r>
              <a:t>R: Não. É classificação supervisionada multiclasse com atributos numéricos. A química só aparece na origem dos números.</a:t>
            </a:r>
          </a:p>
          <a:p/>
          <a:p>
            <a:r>
              <a:t>P: Por que escolheram esse tema?</a:t>
            </a:r>
          </a:p>
          <a:p>
            <a:r>
              <a:t>R: Partimos de um conjunto do Kaggle sobre atividade biológica de moléculas e percebemos que o arquivo estava quebrado; reconstruir a base do ChEMBL virou parte do trabalho.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[Thiago · 1:15] Nosso problema é de classificação: dada uma molécula, prever a qual de quatro proteínas ela está associada, EGFR, BACE1, DRD2 ou HDAC1. Reunimos 27.714 moléculas, e as classes são equilibradas, como mostram os cartões à esquerda. Isso importa para o piso de comparação: um modelo que responde sempre EGFR, a classe mais frequente, já acerta 29,3%. Qualquer resultado só vale se passar bem desse número. À direita, os três desafios do trabalho. Primeiro, a base de partida, do Kaggle, estava quebrada. Segundo, os cinco descritores da base separam pouco as classes: um descritor sozinho acerta no máximo 45,1%. Terceiro, e mais sutil, 25,8% das moléculas de teste têm uma gêmea no treino, outra molécula com exatamente os mesmos descritores, o que pode inflar o resultado. Vamos passar por cada um.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Tarefa: classificação supervisionada multiclasse, 4 classes, 27.714 moléculas na base e 27.476 na modelagem (as outras 238 não têm descritores).</a:t>
            </a:r>
          </a:p>
          <a:p>
            <a:r>
              <a:t>• Piso: responder sempre a classe majoritária (EGFR) dá 29,3% de acurácia e 11,3% de F1 macro. Acurácia é uma métrica aceitável porque as classes são equilibradas (de 20,2% a 29,3%); também reportamos F1 macro, a média simples do F1 das 4 classes.</a:t>
            </a:r>
          </a:p>
          <a:p>
            <a:r>
              <a:t>• 'Associada a um alvo' quer dizer pChEMBL ≥ 6 contra ele. pChEMBL = −log10 da concentração molar em que a molécula tem efeito: 6 equivale a 1 µM, 9 equivale a 1 nM. Quanto maior, mais potente.</a:t>
            </a:r>
          </a:p>
          <a:p>
            <a:r>
              <a:t>• Os 4 alvos, só para você saber responder (não precisa falar): EGFR, receptor do fator de crescimento epidérmico, uma quinase estudada em câncer de pulmão; BACE1, beta-secretase 1, uma protease estudada em Alzheimer; DRD2, receptor de dopamina D2, alvo de antipsicóticos; HDAC1, histona desacetilase 1, enzima de regulação epigenética estudada em oncologia.</a:t>
            </a:r>
          </a:p>
          <a:p>
            <a:r>
              <a:t>• Por que árvore de decisão: as regras são legíveis (perguntas de sim ou não sobre os atributos), não exige normalizar atributos e é o modelo da disciplina. Random Forest e gradient boosting entram só como teto.</a:t>
            </a:r>
          </a:p>
          <a:p>
            <a:r>
              <a:t>• Os três desafios são o fio do trabalho: base quebrada (slide 3), descritores fracos (slides 4 e 5) e vazamento por gêmeas (slide 6).</a:t>
            </a:r>
          </a:p>
          <a:p/>
          <a:p>
            <a:r>
              <a:t>PERGUNTAS PROVÁVEIS</a:t>
            </a:r>
          </a:p>
          <a:p>
            <a:r>
              <a:t>P: Por que só 4 alvos?</a:t>
            </a:r>
          </a:p>
          <a:p>
            <a:r>
              <a:t>R: É uma versão controlada do problema, inspirada no conjunto do Kaggle, que descrevia esses 4 alvos. Mais alvos é trabalho futuro.</a:t>
            </a:r>
          </a:p>
          <a:p/>
          <a:p>
            <a:r>
              <a:t>P: Por que não usaram uma rede neural?</a:t>
            </a:r>
          </a:p>
          <a:p>
            <a:r>
              <a:t>R: O foco é a árvore de decisão pela interpretabilidade. Os modelos mais fortes aparecem só como referência de teto.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[Thiago · 1:00] Começando pela base. Partimos de um arquivo do Kaggle que não batia com a própria descrição: 1.333 linhas em vez de 8.711, nenhuma molécula de EGFR e 95,5% das linhas de DRD2. Não dava para treinar com isso, então reconstruímos a base direto do ChEMBL, na versão 37. O funil à direita mostra o caminho. Partimos de 58.736 medições de ligação. Tiramos duplicatas e registros sem SMILES. Agrupamos por par molécula e alvo, pela mediana. Mantivemos os pares com pChEMBL de pelo menos 6, uma medida de potência. E removemos 42 moléculas associadas a mais de um alvo, porque cada molécula precisa de uma única classe. Para modelar, saem ainda 238 moléculas sem descritores. Ficamos com 27.476.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Arquivo do Kaggle (versão 17, atualizada em 28/09/2026): 1.333 linhas contra as 8.711 descritas; 3 alvos em vez de 4, sem nenhuma linha de EGFR; DRD2 com 95,5%, HDAC1 com 4,4% e BACE1 com 2 linhas. A página também trazia um identificador errado para BACE1 (CHEMBL1987 é outra proteína; o correto é CHEMBL4822). As versões anteriores exigem login para baixar.</a:t>
            </a:r>
          </a:p>
          <a:p>
            <a:r>
              <a:t>• Consulta à API: ensaios de ligação (assay_type = B), valor exato (relação '=') e pChEMBL preenchido, para os 4 alvos: 58.736 medições.</a:t>
            </a:r>
          </a:p>
          <a:p>
            <a:r>
              <a:t>• Qualidade: 7.328 registros marcados pelo ChEMBL como duplicata potencial e 49 sem SMILES; o filtro de validade de dados não removeu nenhum. Restam 51.359.</a:t>
            </a:r>
          </a:p>
          <a:p>
            <a:r>
              <a:t>• Agregação: mediana do pChEMBL por par molécula-alvo (37.424 pares; em média 1,37 medições por par, no máximo 119). A mediana é robusta a medições discrepantes do mesmo par.</a:t>
            </a:r>
          </a:p>
          <a:p>
            <a:r>
              <a:t>• Limiar de potência: pChEMBL ≥ 6 (27.798 pares). O notebook 01 mostra que com limiar 5 quase tudo vira associado e com limiar 7 cada alvo perde metade ou mais das moléculas.</a:t>
            </a:r>
          </a:p>
          <a:p>
            <a:r>
              <a:t>• Moléculas com mais de um alvo: 42 (35 EGFR e HDAC1, 4 DRD2 e EGFR, 3 BACE1 e EGFR); saem porque a molécula precisa de um rótulo único. Sobram 27.714.</a:t>
            </a:r>
          </a:p>
          <a:p>
            <a:r>
              <a:t>• 238 moléculas (0,86%) sem LogP, HBA, HBD e TPSA, quase todas moléculas muito grandes, para as quais o ChEMBL não calcula esses descritores. Saem só na modelagem, sem imputar valores.</a:t>
            </a:r>
          </a:p>
          <a:p>
            <a:r>
              <a:t>• Conferência com o Kaggle: nas 525 moléculas presentes nos dois, 99,6% têm o mesmo rótulo e 99,4% os mesmos descritores.</a:t>
            </a:r>
          </a:p>
          <a:p/>
          <a:p>
            <a:r>
              <a:t>PERGUNTAS PROVÁVEIS</a:t>
            </a:r>
          </a:p>
          <a:p>
            <a:r>
              <a:t>P: Por que pChEMBL ≥ 6?</a:t>
            </a:r>
          </a:p>
          <a:p>
            <a:r>
              <a:t>R: É o limiar usual (1 µM). Com 5 quase tudo entra e com 7 cada alvo perde metade ou mais das moléculas.</a:t>
            </a:r>
          </a:p>
          <a:p/>
          <a:p>
            <a:r>
              <a:t>P: Por que tirar as moléculas com mais de um alvo?</a:t>
            </a:r>
          </a:p>
          <a:p>
            <a:r>
              <a:t>R: Cada molécula precisa de uma única classe. Eram só 42, então o custo é pequeno.</a:t>
            </a:r>
          </a:p>
          <a:p/>
          <a:p>
            <a:r>
              <a:t>P: A reconstrução é reproduzível?</a:t>
            </a:r>
          </a:p>
          <a:p>
            <a:r>
              <a:t>R: Sim. O download fica em cache, o DATASET.md traz o SHA-256 dos arquivos e o notebook 01 refaz o processo.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[Thiago · 1:00] Antes de usar a base, é preciso entender o que o modelo enxerga. A base traz cinco descritores por molécula, calculados pelo ChEMBL a partir da estrutura dela. Aqui estão os valores de uma molécula real, a CHEMBL1085117. A massa molecular é a soma das massas dos átomos: mede o tamanho da molécula. O LogP mede quanto ela prefere gordura a água. HBA e HBD contam os átomos aceptores e doadores de ligação de hidrogênio: aqui, 7 e 4. E a TPSA é a área ocupada pelos átomos polares. Para o modelo, essa molécula é só uma linha com cinco números: ele não vê a estrutura, nem o nome.</a:t>
            </a:r>
          </a:p>
          <a:p/>
          <a:p>
            <a:r>
              <a:t>Passagem para Paulo: “Esses cinco números são tudo que o modelo vê de cada molécula. Será que bastam?”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Massa molecular, em dáltons: soma das massas atômicas. Na base, mediana 453,6, mínimo 127,1 e máximo 3.771,3 (182 moléculas passam de 1.000).</a:t>
            </a:r>
          </a:p>
          <a:p>
            <a:r>
              <a:t>• LogP: coeficiente de partição octanol/água, calculado pelo ChEMBL (ALogP, estimado a partir da estrutura, não medido em laboratório). Valor alto significa mais afinidade por gordura que por água. Mediana 3,98; faixa de −3,83 a 14,00.</a:t>
            </a:r>
          </a:p>
          <a:p>
            <a:r>
              <a:t>• HBA e HBD: contagens de aceptores (em geral átomos de N e O) e de doadores (hidrogênios ligados a N ou O) de ligação de hidrogênio. Medianas 6 (0 a 18) e 2 (0 a 13).</a:t>
            </a:r>
          </a:p>
          <a:p>
            <a:r>
              <a:t>• TPSA, área de superfície polar topológica, em Å²: soma de contribuições de fragmentos polares (Ertl et al., 2000). Mediana 89,6; faixa de 3,2 a 404,9.</a:t>
            </a:r>
          </a:p>
          <a:p>
            <a:r>
              <a:t>• Massa molecular, LogP, HBD e HBA são as quatro propriedades da regra dos cinco de Lipinski, por isso são descritores clássicos. A TPSA é um quinto descritor, também de polaridade.</a:t>
            </a:r>
          </a:p>
          <a:p>
            <a:r>
              <a:t>• Leitura por alvo (medianas): DRD2 tem TPSA baixa (54,5) e HBD 1; EGFR tem as moléculas mais pesadas (497,6) e LogP 4,6; HDAC1 tem o maior HBD (3); BACE1 e HDAC1 se sobrepõem em massa, TPSA e HBA.</a:t>
            </a:r>
          </a:p>
          <a:p>
            <a:r>
              <a:t>• TPSA, HBA e HBD são correlacionadas (Spearman 0,72 entre TPSA e HBA; 0,69 entre TPSA e HBD). A árvore tolera isso, mas a importância se divide entre elas.</a:t>
            </a:r>
          </a:p>
          <a:p>
            <a:r>
              <a:t>• 4.777 linhas (17%) repetem exatamente os 5 valores de outra linha, sempre da mesma classe: isômeros e análogos próximos. É o gancho do slide 6.</a:t>
            </a:r>
          </a:p>
          <a:p/>
          <a:p>
            <a:r>
              <a:t>PERGUNTAS PROVÁVEIS</a:t>
            </a:r>
          </a:p>
          <a:p>
            <a:r>
              <a:t>P: Por que não normalizaram os atributos?</a:t>
            </a:r>
          </a:p>
          <a:p>
            <a:r>
              <a:t>R: Árvores só comparam um atributo com um limiar; mudar a escala não muda as divisões.</a:t>
            </a:r>
          </a:p>
          <a:p/>
          <a:p>
            <a:r>
              <a:t>P: O pChEMBL não seria um bom atributo?</a:t>
            </a:r>
          </a:p>
          <a:p>
            <a:r>
              <a:t>R: Não: ele é o resultado do ensaio contra o próprio alvo, então vazaria o rótulo. Os descritores, ao contrário, são propriedades da molécula.</a:t>
            </a:r>
          </a:p>
          <a:p/>
          <a:p>
            <a:r>
              <a:t>P: Os descritores são medidos ou calculados?</a:t>
            </a:r>
          </a:p>
          <a:p>
            <a:r>
              <a:t>R: Calculados pelo ChEMBL a partir da estrutura da molécula parental; são as mesmas colunas do arquivo do Kaggle (99,4% iguais nas 525 moléculas em comum).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[Paulo · 1:00] Obrigado, Thiago. Será que esses cinco números bastam? Fizemos um experimento: para cada descritor, treinamos uma árvore de decisão de profundidade 3 que enxerga só aquele descritor e medimos a acurácia por validação cruzada. O melhor, o HBD, chega a 45,1%, contra o piso de 29,3%. Nenhum separa os alvos sozinho. Então criamos 12 atributos novos a partir do SMILES, o texto que descreve a estrutura da molécula, só contando caracteres. Na molécula do exemplo, são 48 caracteres, 6 átomos de nitrogênio, 4 de oxigênio, 2 anéis e 9 átomos aromáticos. É uma representação simples, mas, como vamos ver, carrega bastante informação.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Experimento do descritor isolado: árvore de profundidade 3, validação cruzada de 5 partes, um descritor por vez. HBD 45,1%, TPSA 44,9%, HBA 43,3%, LogP 38,7%, massa molecular 37,8%; piso 29,3%. É um diagnóstico, não o modelo final.</a:t>
            </a:r>
          </a:p>
          <a:p>
            <a:r>
              <a:t>• SMILES (Weininger, 1988): a molécula escrita como texto. Letras são átomos (minúscula indica átomo aromático), dígitos fecham anéis, parênteses abrem ramificações, '=' é ligação dupla, '#' é tripla, '+' e '-' são cargas e '@' e '/' marcam estereoquímica.</a:t>
            </a:r>
          </a:p>
          <a:p>
            <a:r>
              <a:t>• Os 12 atributos: comprimento da cadeia; número de átomos de N, de O e de S; de halogênios (F, Cl, Br, I); de anéis (dígitos de fechamento divididos por 2); de ramificações; de átomos aromáticos; de ligações duplas e de triplas; de cargas; e de marcas de estereoquímica.</a:t>
            </a:r>
          </a:p>
          <a:p>
            <a:r>
              <a:t>• Leitura da molécula de exemplo (HDAC1): 48 caracteres; N = 6, O = 4, S = 0; halogênios = 0; anéis = 2; ramificações = 5; aromáticos = 9; ligações duplas = 3; triplas = 0; cargas = 0; estereoquímica = 0.</a:t>
            </a:r>
          </a:p>
          <a:p>
            <a:r>
              <a:t>• Limite: contar caracteres diz quantos átomos de cada tipo existem, mas não como eles se ligam; não enxerga subestruturas.</a:t>
            </a:r>
          </a:p>
          <a:p>
            <a:r>
              <a:t>• Adiantando o resultado: só as 12 contagens dão 87,6%, mais que os 5 descritores (77,1%); juntos, 89,4% (divisão agrupada, média de 10 seeds).</a:t>
            </a:r>
          </a:p>
          <a:p/>
          <a:p>
            <a:r>
              <a:t>PERGUNTAS PROVÁVEIS</a:t>
            </a:r>
          </a:p>
          <a:p>
            <a:r>
              <a:t>P: Por que não usaram uma biblioteca de química?</a:t>
            </a:r>
          </a:p>
          <a:p>
            <a:r>
              <a:t>R: Foi uma decisão do projeto: ficar só com as propriedades do ChEMBL e contagens simples. Representações estruturais exigiriam essa biblioteca e são o próximo passo.</a:t>
            </a:r>
          </a:p>
          <a:p/>
          <a:p>
            <a:r>
              <a:t>P: Usar o SMILES não é vazamento?</a:t>
            </a:r>
          </a:p>
          <a:p>
            <a:r>
              <a:t>R: Não: o SMILES é entrada, não rótulo. O risco é outro: moléculas parecidas no treino e no teste. O agrupamento por descritores idênticos não cobre isso, e declaramos como limitação.</a:t>
            </a:r>
          </a:p>
          <a:p/>
          <a:p>
            <a:r>
              <a:t>P: Como contam os halogênios?</a:t>
            </a:r>
          </a:p>
          <a:p>
            <a:r>
              <a:t>R: F, Cl, Br e I. Cl e Br são tratados como um símbolo só para o 'C' de Cl não ser contado como carbono.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[Paulo · 1:30] Agora o cuidado central do trabalho: como avaliar. Muitas moléculas diferentes têm exatamente os mesmos cinco descritores, e para o modelo elas são o mesmo ponto. Na divisão aleatória, à esquerda, uma dessas gêmeas pode cair no treino e a outra no teste, e acertar o teste vira só lembrar o treino. É o que o desenho mostra: as linhas tracejadas atravessam a fronteira. Medimos que 25,8% das moléculas de teste têm gêmea no treino. Na divisão agrupada, à direita, todas as gêmeas ficam do mesmo lado, e o teste exige generalizar. Comparamos então três conjuntos de atributos, só descritores, só SMILES e os dois juntos, com as duas divisões. São seis cenários, e repetimos tudo com dez seeds, para a conclusão não depender de um sorteio de sorte. Um detalhe: a validação que escolhe os hiperparâmetros também respeita os grupos.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Vazamento de dados é quando informação do conjunto de teste chega ao treino; é uma causa conhecida de resultados superestimados (Kapoor e Narayanan, 2023).</a:t>
            </a:r>
          </a:p>
          <a:p>
            <a:r>
              <a:t>• Números: das 27.476 moléculas, 22.699 têm uma tupla de descritores distinta e 4.777 repetem a de outra molécula; o maior grupo tem 12; nenhum grupo mistura classes. Na divisão aleatória, 25,8 ± 0,4% do teste tem gêmea no treino (10 seeds; na seed 42, 25,4%).</a:t>
            </a:r>
          </a:p>
          <a:p>
            <a:r>
              <a:t>• Por que isso infla o resultado: a árvore sem limite de profundidade decora o treino. Como a gêmea é o mesmo ponto e tem a mesma classe, acertá-la não exige generalizar.</a:t>
            </a:r>
          </a:p>
          <a:p>
            <a:r>
              <a:t>• Como é a divisão agrupada: validação cruzada de 5 partes, estratificada por classe e sem separar grupos (StratifiedGroupKFold, do scikit-learn); uma parte (20%) é o teste. As duas divisões têm 21.980 moléculas de treino e 5.496 de teste e preservam a proporção das classes.</a:t>
            </a:r>
          </a:p>
          <a:p>
            <a:r>
              <a:t>• A validação cruzada interna, que escolhe os hiperparâmetros, também é agrupada. Com dobras comuns ela ficaria cerca de 5 pontos otimista, segundo o comentário no código.</a:t>
            </a:r>
          </a:p>
          <a:p>
            <a:r>
              <a:t>• Busca em grade, 72 combinações: critério (Gini ou entropia), profundidade máxima (8, 12, 16 ou sem limite), mínimo por folha (1, 5 ou 20) e poda α (0, 1e-4 ou 3e-4). Em todos os cenários venceram a entropia, sem limite de profundidade e folha mínima 1; a poda só entrou com os descritores sozinhos.</a:t>
            </a:r>
          </a:p>
          <a:p>
            <a:r>
              <a:t>• Os 6 cenários são os 3 conjuntos de atributos (descritores, SMILES, ambos) vezes as 2 divisões. As 10 seeds (0 a 9) mudam as divisões, as partes da validação e a semente dos modelos; a base é a mesma.</a:t>
            </a:r>
          </a:p>
          <a:p>
            <a:r>
              <a:t>• Limite: o agrupamento só vê descritores idênticos. Moléculas muito parecidas (da mesma série química) continuam espalhadas entre treino e teste. Dividir por esqueleto molecular seria mais exigente e precisa de biblioteca de química.</a:t>
            </a:r>
          </a:p>
          <a:p>
            <a:r>
              <a:t>• O desenho do slide é um esquema, não são dados reais.</a:t>
            </a:r>
          </a:p>
          <a:p/>
          <a:p>
            <a:r>
              <a:t>PERGUNTAS PROVÁVEIS</a:t>
            </a:r>
          </a:p>
          <a:p>
            <a:r>
              <a:t>P: Por que 25,8% e não 20%?</a:t>
            </a:r>
          </a:p>
          <a:p>
            <a:r>
              <a:t>R: 20% é o tamanho do teste. O número do slide é a fração dessas moléculas de teste cuja tupla de descritores também aparece no treino.</a:t>
            </a:r>
          </a:p>
          <a:p/>
          <a:p>
            <a:r>
              <a:t>P: Isso não é só overfitting?</a:t>
            </a:r>
          </a:p>
          <a:p>
            <a:r>
              <a:t>R: A árvore sem poda ajusta 100% do treino nos dois casos. O problema é de avaliação: na divisão aleatória o teste não é independente do treino.</a:t>
            </a:r>
          </a:p>
          <a:p/>
          <a:p>
            <a:r>
              <a:t>P: Por que 10 seeds?</a:t>
            </a:r>
          </a:p>
          <a:p>
            <a:r>
              <a:t>R: Um único sorteio pode ser favorável por acaso. As seeds mudam as divisões e as partes da validação; a base continua a mesma, então o desvio não mede incerteza para dados novos.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[Paulo · 1:00] O resultado principal está neste gráfico, em média de dez seeds. Na divisão agrupada, os descritores sozinhos dão 77,1% de acurácia. Juntando as contagens de SMILES, chegamos a 89,4%: um ganho relativo de 16%. Repare no efeito da divisão aleatória, as colunas cinza. Ela superestima o resultado em 5,3% quando só há descritores, porque a árvore decora as gêmeas. Com os atributos de SMILES, o excesso cai para 1,5%, porque moléculas com os mesmos descritores têm SMILES diferentes. O desvio padrão fica abaixo de 0,8%, então a diferença é bem maior que a variação entre seeds.</a:t>
            </a:r>
          </a:p>
          <a:p/>
          <a:p>
            <a:r>
              <a:t>Passagem para Bernan: “Vamos ver agora o que essa árvore aprendeu e onde ela erra.”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Descritores: 81,2% na aleatória e 77,1 ± 0,8% na agrupada. Só SMILES: 88,9% e 87,6 ± 0,6%. Ambos: 90,8% e 89,4 ± 0,4%.</a:t>
            </a:r>
          </a:p>
          <a:p>
            <a:r>
              <a:t>• Ganho relativo = (B − A) / A, calculado por seed e depois com a média. De 77,1% para 89,4% são 12,3 pontos percentuais, ou 16% em relação a 77,1%. O artigo usa o relativo; só as contagens de SMILES já dão 14% sobre os descritores.</a:t>
            </a:r>
          </a:p>
          <a:p>
            <a:r>
              <a:t>• Superestimativa da divisão aleatória, também relativa: 5,3 ± 1,2% com descritores, 1,5% com SMILES e 1,5% com ambos.</a:t>
            </a:r>
          </a:p>
          <a:p>
            <a:r>
              <a:t>• Por que a superestimativa quase some com SMILES: duas moléculas com os mesmos descritores têm SMILES diferentes, então as contagens não são copiadas junto e decorar vale menos.</a:t>
            </a:r>
          </a:p>
          <a:p>
            <a:r>
              <a:t>• F1 macro é a média simples do F1 das 4 classes; com classes equilibradas fica perto da acurácia (89,3% no cenário com os 17 atributos). Por classe: EGFR 89,2%, BACE1 90,9%, DRD2 90,4%, HDAC1 86,6%.</a:t>
            </a:r>
          </a:p>
          <a:p>
            <a:r>
              <a:t>• Na seed 42, usada nas figuras e nos notebooks, a árvore acerta 89,7%, dentro da faixa de 88,6% a 89,9% das 10 seeds.</a:t>
            </a:r>
          </a:p>
          <a:p/>
          <a:p>
            <a:r>
              <a:t>PERGUNTAS PROVÁVEIS</a:t>
            </a:r>
          </a:p>
          <a:p>
            <a:r>
              <a:t>P: Fizeram teste estatístico?</a:t>
            </a:r>
          </a:p>
          <a:p>
            <a:r>
              <a:t>R: Não. Usamos média e desvio padrão entre seeds. O ganho de 12,3 pontos percentuais é muito maior que o desvio (0,8% no máximo).</a:t>
            </a:r>
          </a:p>
          <a:p/>
          <a:p>
            <a:r>
              <a:t>P: Por que ganho relativo e não em pontos?</a:t>
            </a:r>
          </a:p>
          <a:p>
            <a:r>
              <a:t>R: É escolha de apresentação, e os dois dizem o mesmo: 12,3 pontos percentuais equivalem a 16% sobre 77,1%.</a:t>
            </a:r>
          </a:p>
          <a:p/>
          <a:p>
            <a:r>
              <a:t>P: Qual conjunto de atributos vocês escolheram?</a:t>
            </a:r>
          </a:p>
          <a:p>
            <a:r>
              <a:t>R: Os 17 atributos juntos com divisão agrupada: é o cenário honesto, com o melhor desempenho.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[Bernan · 1:00] Obrigado, Paulo. Para saber se 89,4% é bom, comparamos com um piso e um teto. A Random Forest chega a 95,2% e o gradient boosting a 94,8%: a Random Forest supera a nossa árvore em 6,4%. Então por que ficar com a árvore? Porque só ela tem regras legíveis. À direita, a primeira pergunta é: a TPSA é no máximo 67,9? Se sim, 69% das moléculas são DRD2. A árvore completa tem 1.854 folhas, e a TPSA e o número de átomos aromáticos são os atributos mais importantes. Ou seja, dá para explicar por que uma molécula foi classificada como DRD2, o que um conjunto de árvores não oferece.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Random Forest com 300 árvores (95,2 ± 0,3%) e gradient boosting baseado em histogramas (94,8 ± 0,3%), ambos sem ajuste de hiperparâmetros, na mesma divisão agrupada e com os 17 atributos. Servem de teto de referência.</a:t>
            </a:r>
          </a:p>
          <a:p>
            <a:r>
              <a:t>• Diferença: 5,8 pontos percentuais, ou 6,4% em termos relativos. Piso: 29,3%.</a:t>
            </a:r>
          </a:p>
          <a:p>
            <a:r>
              <a:t>• A árvore escolhida (seed 42) tem 1.854 folhas e 24 níveis. Sobreajuste: o treino chega a 100% na profundidade 25 e a validação estaciona perto de 87% a partir da 16.</a:t>
            </a:r>
          </a:p>
          <a:p>
            <a:r>
              <a:t>• Poda por custo-complexidade: com α = 1e-4 a árvore cai de 2.054 para 899 folhas sem perder acurácia de validação (87,0% para 87,2%); a partir de 1e-3 a poda custa acurácia e com α = 1e-2 sobram 8 folhas e 66,5%. Na busca em grade, a poda só venceu com os descritores sozinhos.</a:t>
            </a:r>
          </a:p>
          <a:p>
            <a:r>
              <a:t>• Raiz: TPSA ≤ 67,9. Ramo 'sim': 25,5% das moléculas, 69% são DRD2. Ramo 'não': 74,5% das moléculas; a classe mais comum é EGFR, com só 34% (mistura). Depois vêm átomos aromáticos (≤ 14 no ramo 'sim', ≤ 12 no 'não'), HBD, anéis, comprimento do SMILES e halogênios.</a:t>
            </a:r>
          </a:p>
          <a:p>
            <a:r>
              <a:t>• Importância dos atributos (seed 42), por duas medidas: por impureza, medida no treino, e por permutação, a queda de acurácia no teste ao embaralhar o atributo. TPSA e átomos aromáticos lideram nas duas (queda perto de 0,26 na permutação), seguidos de HBD (perto de 0,17) e de contagens de SMILES (átomos de N, halogênios, estereoquímica, anéis) acima de LogP e HBA.</a:t>
            </a:r>
          </a:p>
          <a:p/>
          <a:p>
            <a:r>
              <a:t>PERGUNTAS PROVÁVEIS</a:t>
            </a:r>
          </a:p>
          <a:p>
            <a:r>
              <a:t>P: Por que não podaram a árvore?</a:t>
            </a:r>
          </a:p>
          <a:p>
            <a:r>
              <a:t>R: A busca em grade incluía poda (α de 0, 1e-4 e 3e-4) e, com os atributos de SMILES, a melhor foi sem poda. A poda reduz folhas sem perder acurácia, mas escolhemos pela validação.</a:t>
            </a:r>
          </a:p>
          <a:p/>
          <a:p>
            <a:r>
              <a:t>P: Vale perder cerca de 6% por causa da interpretabilidade?</a:t>
            </a:r>
          </a:p>
          <a:p>
            <a:r>
              <a:t>R: Depende do uso. A árvore explica cada previsão com um caminho de perguntas; os conjuntos de árvores não têm regras legíveis.</a:t>
            </a:r>
          </a:p>
          <a:p/>
          <a:p>
            <a:r>
              <a:t>P: A Random Forest sem ajuste não é injusta com ela?</a:t>
            </a:r>
          </a:p>
          <a:p>
            <a:r>
              <a:t>R: Pode estar subestimando o teto, e dizemos isso nas limitações. Ela serve só de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[Bernan · 1:00] Onde a árvore erra? A matriz de confusão, na seed 42, mostra que o maior erro é entre HDAC1 e EGFR: 28,7% de todos os erros. Isso acontece porque os atributos tirados do SMILES são só contagens e podem não bastar para representar a molécula: duas moléculas diferentes podem ter contagens parecidas. Outro ponto importante: sem poda, toda folha da árvore é pura, então ela diz ter 100% de confiança nas 5.496 previsões do teste, embora 10,3% estejam erradas. A confiança dela, portanto, não distingue acerto de erro. Isso aponta para os próximos passos.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Matriz (seed 42): acertos EGFR 1.449 de 1.612, BACE1 1.335 de 1.463, DRD2 1.178 de 1.307, HDAC1 966 de 1.114. Erros: 568 de 5.496 (10,3%).</a:t>
            </a:r>
          </a:p>
          <a:p>
            <a:r>
              <a:t>• Maiores confusões: HDAC1 lido como EGFR (88, 15,5% dos erros), EGFR como HDAC1 (75, 13,2%), DRD2 como EGFR (63, 11,1%), BACE1 como EGFR (52, 9,2%). HDAC1 e EGFR juntos somam 28,7%; 7,9% das moléculas de HDAC1 viram EGFR.</a:t>
            </a:r>
          </a:p>
          <a:p>
            <a:r>
              <a:t>• Os erros não se concentram numa região: acertos e erros têm medianas quase iguais nos 17 atributos. Só o número de átomos de O (+1) e de halogênios (−1) se deslocam meio intervalo interquartil.</a:t>
            </a:r>
          </a:p>
          <a:p>
            <a:r>
              <a:t>• C(=O)NO é o grupo hidroxamato, típico de inibidores de HDAC. Entre 6 exemplos de HDAC1 lidos como EGFR, 2 o têm. As contagens dizem quantos átomos de O e N existem, mas não como estão ligados.</a:t>
            </a:r>
          </a:p>
          <a:p>
            <a:r>
              <a:t>• Confiança: sem poda toda folha é pura, então a probabilidade de classe que a árvore reporta (a pureza da folha) é sempre 100%. Por isso ela não distingue acerto de erro. Probabilidade calibrada exigiria poda ou um conjunto de árvores.</a:t>
            </a:r>
          </a:p>
          <a:p>
            <a:r>
              <a:t>• Curva de aprendizado: a acurácia de validação sobe de 61,5% (879 linhas) a 87,0% (17.584) e não achata, então mais dados provavelmente ajudariam.</a:t>
            </a:r>
          </a:p>
          <a:p/>
          <a:p>
            <a:r>
              <a:t>PERGUNTAS PROVÁVEIS</a:t>
            </a:r>
          </a:p>
          <a:p>
            <a:r>
              <a:t>P: Como reduzir o erro entre HDAC1 e EGFR?</a:t>
            </a:r>
          </a:p>
          <a:p>
            <a:r>
              <a:t>R: Com uma representação que enxergue subestruturas, como representações estruturais da molécula, e com mais dados.</a:t>
            </a:r>
          </a:p>
          <a:p/>
          <a:p>
            <a:r>
              <a:t>P: Se a árvore diz 100% de confiança, como confiar nela?</a:t>
            </a:r>
          </a:p>
          <a:p>
            <a:r>
              <a:t>R: Não se deve confiar nessa probabilidade: ela é a pureza da folha. Para priorizar moléculas seria preciso calibrar, com poda ou com um conjunto de árvores.</a:t>
            </a:r>
          </a:p>
          <a:p/>
          <a:p>
            <a:r>
              <a:t>P: O erro é maior em alguma classe?</a:t>
            </a:r>
          </a:p>
          <a:p>
            <a:r>
              <a:t>R: HDAC1 é a mais difícil (F1 86,6%); BACE1 é a mais fácil (90,9%).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ROTEIRO (o que falar)</a:t>
            </a:r>
          </a:p>
          <a:p>
            <a:r>
              <a:t>[Bernan · 1:00] Resumindo. Com avaliação honesta, a árvore chega a 89,4% de acurácia. Contar o SMILES dá um ganho relativo de 16% sobre só os descritores. E a divisão aleatória superestimaria o resultado entre 1,5% e 5,3%. Os limites: o agrupamento cobre só descritores idênticos, não famílias de moléculas parecidas; o modelo sempre escolhe uma entre quatro classes; e não há validação externa. O código e os dados estão no repositório. Obrigado, e estamos abertos a perguntas.</a:t>
            </a:r>
          </a:p>
          <a:p/>
          <a:p>
            <a:r>
              <a:t>Bernan conduz as perguntas.</a:t>
            </a:r>
          </a:p>
          <a:p/>
          <a:p>
            <a:r>
              <a:t>────────────────────</a:t>
            </a:r>
          </a:p>
          <a:p>
            <a:r>
              <a:t>PARA ESTUDAR (apoio; não faz parte da fala)</a:t>
            </a:r>
          </a:p>
          <a:p>
            <a:r>
              <a:t>• Contribuições: (1) uma base reconstruída do ChEMBL_37 com 27.714 moléculas de quatro alvos; (2) 12 atributos obtidos só contando caracteres do SMILES, com ganho relativo de 16%; (3) avaliação com divisão agrupada e 10 seeds, que mede a superestimativa da divisão aleatória e situa a árvore entre o piso (29,3%) e o teto (Random Forest, 95,2%).</a:t>
            </a:r>
          </a:p>
          <a:p>
            <a:r>
              <a:t>• Limites em detalhe: o agrupamento só considera descritores idênticos; o modelo é de conjunto fechado de 4 classes, sem a opção 'nenhuma das quatro'; as 10 seeds variam o sorteio mas não os dados, então o desvio não mede incerteza para dados novos; não há validação externa; Random Forest e gradient boosting estão sem ajuste; 238 moléculas sem descritores foram descartadas; as probabilidades da árvore não são calibradas.</a:t>
            </a:r>
          </a:p>
          <a:p>
            <a:r>
              <a:t>• Próximos passos (estão no relatório, não no slide; use se perguntarem): representações estruturais da molécula (calculadas com biblioteca de química) enxergariam subestruturas como o C(=O)NO; divisão por esqueleto molecular daria uma estimativa menos otimista; mais dados (outros alvos ou limiar de pChEMBL mais baixo), já que a curva de aprendizado ainda sobe; e poda ou conjunto de árvores para probabilidades calibradas.</a:t>
            </a:r>
          </a:p>
          <a:p>
            <a:r>
              <a:t>• Reprodutibilidade: seeds de 0 a 9, notebooks 01 a 03, hash SHA-256 de cada arquivo no DATASET.md; dados derivados do ChEMBL sob a licença CC BY-SA 3.0.</a:t>
            </a:r>
          </a:p>
          <a:p/>
          <a:p>
            <a:r>
              <a:t>PERGUNTAS PROVÁVEIS</a:t>
            </a:r>
          </a:p>
          <a:p>
            <a:r>
              <a:t>P: Qual a principal contribuição?</a:t>
            </a:r>
          </a:p>
          <a:p>
            <a:r>
              <a:t>R: Mostrar, com um protocolo reproduzível, que contar o SMILES dá 16% de ganho relativo e que a divisão aleatória superestima o resultado em 1,5% a 5,3%.</a:t>
            </a:r>
          </a:p>
          <a:p/>
          <a:p>
            <a:r>
              <a:t>P: Dá para usar isso na prática?</a:t>
            </a:r>
          </a:p>
          <a:p>
            <a:r>
              <a:t>R: Ainda não: são só 4 classes fixas, a estimativa ainda é otimista para moléculas novas e não há validação externa.</a:t>
            </a:r>
          </a:p>
          <a:p/>
          <a:p>
            <a:r>
              <a:t>P: Por que acurácia e F1 macro, e não AUC?</a:t>
            </a:r>
          </a:p>
          <a:p>
            <a:r>
              <a:t>R: O problema é multiclasse e as classes são equilibradas; acurácia e F1 macro resumem bem. A matriz de confusão mostra onde erra.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308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222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841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101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2501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9985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273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138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078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0791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66175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7864F2-6EBC-4C42-A093-D5C075C1C48A}" type="datetimeFigureOut">
              <a:rPr lang="pt-BR" smtClean="0"/>
              <a:t>28/11/2024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ABB83-AB2C-41BD-983F-981234AF8A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757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Relationship Id="rId4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Relationship Id="rId4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anchor="b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Classificação de alvos proteicos a partir de descritores moleculares do ChEMBL com árvores de decisão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600"/>
              </a:spcAft>
            </a:pPr>
            <a:r>
              <a:rPr sz="2200" lang="pt-BR" b="1">
                <a:solidFill>
                  <a:srgbClr val="1F2A2E"/>
                </a:solidFill>
              </a:rPr>
              <a:t>Bernan R. do Nascimento · Paulo E. R. Araujo · Thiago R. P. de Carvalho</a:t>
            </a:r>
          </a:p>
          <a:p>
            <a:pPr algn="ctr"/>
            <a:r>
              <a:rPr sz="2000" lang="pt-BR" b="0">
                <a:solidFill>
                  <a:srgbClr val="1F2A2E"/>
                </a:solidFill>
              </a:rPr>
              <a:t>Universidade Federal do Piauí (UFPI)</a:t>
            </a:r>
          </a:p>
          <a:p>
            <a:pPr algn="ctr"/>
            <a:r>
              <a:rPr sz="2000" lang="pt-BR" b="0">
                <a:solidFill>
                  <a:srgbClr val="1F2A2E"/>
                </a:solidFill>
              </a:rPr>
              <a:t>PPGCC010 – Aprendizagem de Máquina (2026.2) · Prof. Vinicius Ponte Machado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Prever o alvo de uma molécula é mais difícil do que parece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4 alvos · 27.714 moléculas</a:t>
            </a:r>
          </a:p>
        </p:txBody>
      </p:sp>
      <p:sp>
        <p:nvSpPr>
          <p:cNvPr id="6" name="Cartão EGFR"/>
          <p:cNvSpPr/>
          <p:nvPr/>
        </p:nvSpPr>
        <p:spPr>
          <a:xfrm>
            <a:off x="841248" y="233172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D9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spcAft>
                <a:spcPts val="0"/>
              </a:spcAft>
            </a:pPr>
            <a:r>
              <a:rPr sz="2400" lang="pt-BR" b="0">
                <a:solidFill>
                  <a:srgbClr val="2A78D6"/>
                </a:solidFill>
              </a:rPr>
              <a:t>●  </a:t>
            </a:r>
            <a:r>
              <a:rPr sz="2400" lang="pt-BR" b="1">
                <a:solidFill>
                  <a:srgbClr val="1F2A2E"/>
                </a:solidFill>
              </a:rPr>
              <a:t>EGFR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8.108 moléculas</a:t>
            </a:r>
          </a:p>
          <a:p>
            <a:pPr algn="l"/>
            <a:r>
              <a:rPr sz="2000" lang="pt-BR" b="1">
                <a:solidFill>
                  <a:srgbClr val="1F2A2E"/>
                </a:solidFill>
              </a:rPr>
              <a:t>29,3%</a:t>
            </a:r>
          </a:p>
        </p:txBody>
      </p:sp>
      <p:sp>
        <p:nvSpPr>
          <p:cNvPr id="7" name="Cartão BACE1"/>
          <p:cNvSpPr/>
          <p:nvPr/>
        </p:nvSpPr>
        <p:spPr>
          <a:xfrm>
            <a:off x="3383280" y="233172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BE1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spcAft>
                <a:spcPts val="0"/>
              </a:spcAft>
            </a:pPr>
            <a:r>
              <a:rPr sz="2400" lang="pt-BR" b="0">
                <a:solidFill>
                  <a:srgbClr val="EB6834"/>
                </a:solidFill>
              </a:rPr>
              <a:t>●  </a:t>
            </a:r>
            <a:r>
              <a:rPr sz="2400" lang="pt-BR" b="1">
                <a:solidFill>
                  <a:srgbClr val="1F2A2E"/>
                </a:solidFill>
              </a:rPr>
              <a:t>BACE1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7.344 moléculas</a:t>
            </a:r>
          </a:p>
          <a:p>
            <a:pPr algn="l"/>
            <a:r>
              <a:rPr sz="2000" lang="pt-BR" b="1">
                <a:solidFill>
                  <a:srgbClr val="1F2A2E"/>
                </a:solidFill>
              </a:rPr>
              <a:t>26,5%</a:t>
            </a:r>
          </a:p>
        </p:txBody>
      </p:sp>
      <p:sp>
        <p:nvSpPr>
          <p:cNvPr id="8" name="Cartão DRD2"/>
          <p:cNvSpPr/>
          <p:nvPr/>
        </p:nvSpPr>
        <p:spPr>
          <a:xfrm>
            <a:off x="841248" y="379476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D2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spcAft>
                <a:spcPts val="0"/>
              </a:spcAft>
            </a:pPr>
            <a:r>
              <a:rPr sz="2400" lang="pt-BR" b="0">
                <a:solidFill>
                  <a:srgbClr val="1BAF7A"/>
                </a:solidFill>
              </a:rPr>
              <a:t>●  </a:t>
            </a:r>
            <a:r>
              <a:rPr sz="2400" lang="pt-BR" b="1">
                <a:solidFill>
                  <a:srgbClr val="1F2A2E"/>
                </a:solidFill>
              </a:rPr>
              <a:t>DRD2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6.650 moléculas</a:t>
            </a:r>
          </a:p>
          <a:p>
            <a:pPr algn="l"/>
            <a:r>
              <a:rPr sz="2000" lang="pt-BR" b="1">
                <a:solidFill>
                  <a:srgbClr val="1F2A2E"/>
                </a:solidFill>
              </a:rPr>
              <a:t>24,0%</a:t>
            </a:r>
          </a:p>
        </p:txBody>
      </p:sp>
      <p:sp>
        <p:nvSpPr>
          <p:cNvPr id="9" name="Cartão HDAC1"/>
          <p:cNvSpPr/>
          <p:nvPr/>
        </p:nvSpPr>
        <p:spPr>
          <a:xfrm>
            <a:off x="3383280" y="3794760"/>
            <a:ext cx="2377440" cy="1325880"/>
          </a:xfrm>
          <a:prstGeom prst="roundRect">
            <a:avLst>
              <a:gd name="adj" fmla="val 8000"/>
            </a:avLst>
          </a:prstGeom>
          <a:solidFill>
            <a:srgbClr val="FBEF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>
              <a:spcAft>
                <a:spcPts val="0"/>
              </a:spcAft>
            </a:pPr>
            <a:r>
              <a:rPr sz="2400" lang="pt-BR" b="0">
                <a:solidFill>
                  <a:srgbClr val="EDA100"/>
                </a:solidFill>
              </a:rPr>
              <a:t>●  </a:t>
            </a:r>
            <a:r>
              <a:rPr sz="2400" lang="pt-BR" b="1">
                <a:solidFill>
                  <a:srgbClr val="1F2A2E"/>
                </a:solidFill>
              </a:rPr>
              <a:t>HDAC1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5.612 moléculas</a:t>
            </a:r>
          </a:p>
          <a:p>
            <a:pPr algn="l"/>
            <a:r>
              <a:rPr sz="2000" lang="pt-BR" b="1">
                <a:solidFill>
                  <a:srgbClr val="1F2A2E"/>
                </a:solidFill>
              </a:rPr>
              <a:t>20,2%</a:t>
            </a:r>
          </a:p>
        </p:txBody>
      </p:sp>
      <p:sp>
        <p:nvSpPr>
          <p:cNvPr id="10" name="Piso"/>
          <p:cNvSpPr/>
          <p:nvPr/>
        </p:nvSpPr>
        <p:spPr>
          <a:xfrm>
            <a:off x="841248" y="5257800"/>
            <a:ext cx="4919472" cy="86868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l"/>
            <a:r>
              <a:rPr sz="2000" lang="pt-BR" b="1">
                <a:solidFill>
                  <a:srgbClr val="1F2A2E"/>
                </a:solidFill>
              </a:rPr>
              <a:t>Responder sempre EGFR acerta 29,3%: esse é o piso.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46634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Três desafios</a:t>
            </a:r>
          </a:p>
        </p:txBody>
      </p:sp>
      <p:sp>
        <p:nvSpPr>
          <p:cNvPr id="12" name="Número 1"/>
          <p:cNvSpPr/>
          <p:nvPr/>
        </p:nvSpPr>
        <p:spPr>
          <a:xfrm>
            <a:off x="6309360" y="2377440"/>
            <a:ext cx="640080" cy="640080"/>
          </a:xfrm>
          <a:prstGeom prst="ellipse">
            <a:avLst/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lang="pt-BR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Desafio 1"/>
          <p:cNvSpPr txBox="1"/>
          <p:nvPr/>
        </p:nvSpPr>
        <p:spPr>
          <a:xfrm>
            <a:off x="7132320" y="2350008"/>
            <a:ext cx="3840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lang="pt-BR" b="1">
                <a:solidFill>
                  <a:srgbClr val="1F2A2E"/>
                </a:solidFill>
              </a:rPr>
              <a:t>Base de partida quebrada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o arquivo do Kaggle não bate com a própria descrição</a:t>
            </a:r>
          </a:p>
        </p:txBody>
      </p:sp>
      <p:sp>
        <p:nvSpPr>
          <p:cNvPr id="14" name="Número 2"/>
          <p:cNvSpPr/>
          <p:nvPr/>
        </p:nvSpPr>
        <p:spPr>
          <a:xfrm>
            <a:off x="6309360" y="3657600"/>
            <a:ext cx="640080" cy="640080"/>
          </a:xfrm>
          <a:prstGeom prst="ellipse">
            <a:avLst/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lang="pt-BR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Desafio 2"/>
          <p:cNvSpPr txBox="1"/>
          <p:nvPr/>
        </p:nvSpPr>
        <p:spPr>
          <a:xfrm>
            <a:off x="7132320" y="3630168"/>
            <a:ext cx="3840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lang="pt-BR" b="1">
                <a:solidFill>
                  <a:srgbClr val="1F2A2E"/>
                </a:solidFill>
              </a:rPr>
              <a:t>Descritores fracos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um descritor sozinho acerta no máximo 45,1%</a:t>
            </a:r>
          </a:p>
        </p:txBody>
      </p:sp>
      <p:sp>
        <p:nvSpPr>
          <p:cNvPr id="16" name="Número 3"/>
          <p:cNvSpPr/>
          <p:nvPr/>
        </p:nvSpPr>
        <p:spPr>
          <a:xfrm>
            <a:off x="6309360" y="4937760"/>
            <a:ext cx="640080" cy="640080"/>
          </a:xfrm>
          <a:prstGeom prst="ellipse">
            <a:avLst/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600" lang="pt-BR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Desafio 3"/>
          <p:cNvSpPr txBox="1"/>
          <p:nvPr/>
        </p:nvSpPr>
        <p:spPr>
          <a:xfrm>
            <a:off x="7132320" y="4910328"/>
            <a:ext cx="38404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lang="pt-BR" b="1">
                <a:solidFill>
                  <a:srgbClr val="1F2A2E"/>
                </a:solidFill>
              </a:rPr>
              <a:t>Teste contaminado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25,8% das moléculas de teste têm uma gêmea no treino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A base do Kaggle estava quebrada, então reconstruímos do ChEMBL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Painel Kaggle"/>
          <p:cNvSpPr/>
          <p:nvPr/>
        </p:nvSpPr>
        <p:spPr>
          <a:xfrm>
            <a:off x="841248" y="1828800"/>
            <a:ext cx="3566160" cy="4297680"/>
          </a:xfrm>
          <a:prstGeom prst="roundRect">
            <a:avLst>
              <a:gd name="adj" fmla="val 8000"/>
            </a:avLst>
          </a:prstGeom>
          <a:solidFill>
            <a:srgbClr val="F6E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938528"/>
            <a:ext cx="3200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B23A2E"/>
                </a:solidFill>
              </a:rPr>
              <a:t>Arquivo do Kaggle</a:t>
            </a:r>
          </a:p>
        </p:txBody>
      </p:sp>
      <p:sp>
        <p:nvSpPr>
          <p:cNvPr id="7" name="Kaggle 1"/>
          <p:cNvSpPr txBox="1"/>
          <p:nvPr/>
        </p:nvSpPr>
        <p:spPr>
          <a:xfrm>
            <a:off x="1051560" y="251460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lang="pt-BR" b="1">
                <a:solidFill>
                  <a:srgbClr val="B23A2E"/>
                </a:solidFill>
              </a:rPr>
              <a:t>1.333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linhas (descritas: 8.711)</a:t>
            </a:r>
          </a:p>
        </p:txBody>
      </p:sp>
      <p:sp>
        <p:nvSpPr>
          <p:cNvPr id="8" name="Kaggle 2"/>
          <p:cNvSpPr txBox="1"/>
          <p:nvPr/>
        </p:nvSpPr>
        <p:spPr>
          <a:xfrm>
            <a:off x="1051560" y="370332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lang="pt-BR" b="1">
                <a:solidFill>
                  <a:srgbClr val="B23A2E"/>
                </a:solidFill>
              </a:rPr>
              <a:t>0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moléculas de EGFR</a:t>
            </a:r>
          </a:p>
        </p:txBody>
      </p:sp>
      <p:sp>
        <p:nvSpPr>
          <p:cNvPr id="9" name="Kaggle 3"/>
          <p:cNvSpPr txBox="1"/>
          <p:nvPr/>
        </p:nvSpPr>
        <p:spPr>
          <a:xfrm>
            <a:off x="1051560" y="4892040"/>
            <a:ext cx="3200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400" lang="pt-BR" b="1">
                <a:solidFill>
                  <a:srgbClr val="B23A2E"/>
                </a:solidFill>
              </a:rPr>
              <a:t>95,5%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das linhas são DRD2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6217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Reconstrução do ChEMBL_37 (24/10/2026)</a:t>
            </a:r>
          </a:p>
        </p:txBody>
      </p:sp>
      <p:sp>
        <p:nvSpPr>
          <p:cNvPr id="11" name="Etapa 1"/>
          <p:cNvSpPr/>
          <p:nvPr/>
        </p:nvSpPr>
        <p:spPr>
          <a:xfrm>
            <a:off x="4754880" y="2423160"/>
            <a:ext cx="2651760" cy="512064"/>
          </a:xfrm>
          <a:prstGeom prst="roundRect">
            <a:avLst>
              <a:gd name="adj" fmla="val 20000"/>
            </a:avLst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2000" lang="pt-BR" b="1">
                <a:solidFill>
                  <a:srgbClr val="FFFFFF"/>
                </a:solidFill>
              </a:rPr>
              <a:t>58.736</a:t>
            </a:r>
          </a:p>
        </p:txBody>
      </p:sp>
      <p:sp>
        <p:nvSpPr>
          <p:cNvPr id="12" name="Corte 1"/>
          <p:cNvSpPr txBox="1"/>
          <p:nvPr/>
        </p:nvSpPr>
        <p:spPr>
          <a:xfrm>
            <a:off x="7589520" y="2423160"/>
            <a:ext cx="3383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medições de ligação</a:t>
            </a:r>
          </a:p>
        </p:txBody>
      </p:sp>
      <p:sp>
        <p:nvSpPr>
          <p:cNvPr id="13" name="Etapa 2"/>
          <p:cNvSpPr/>
          <p:nvPr/>
        </p:nvSpPr>
        <p:spPr>
          <a:xfrm>
            <a:off x="4754880" y="3044952"/>
            <a:ext cx="2318709" cy="512064"/>
          </a:xfrm>
          <a:prstGeom prst="roundRect">
            <a:avLst>
              <a:gd name="adj" fmla="val 20000"/>
            </a:avLst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2000" lang="pt-BR" b="1">
                <a:solidFill>
                  <a:srgbClr val="FFFFFF"/>
                </a:solidFill>
              </a:rPr>
              <a:t>51.359</a:t>
            </a:r>
          </a:p>
        </p:txBody>
      </p:sp>
      <p:sp>
        <p:nvSpPr>
          <p:cNvPr id="14" name="Corte 2"/>
          <p:cNvSpPr txBox="1"/>
          <p:nvPr/>
        </p:nvSpPr>
        <p:spPr>
          <a:xfrm>
            <a:off x="7589520" y="3044952"/>
            <a:ext cx="3383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sem duplicata ou SMILES vazio</a:t>
            </a:r>
          </a:p>
        </p:txBody>
      </p:sp>
      <p:sp>
        <p:nvSpPr>
          <p:cNvPr id="15" name="Etapa 3"/>
          <p:cNvSpPr/>
          <p:nvPr/>
        </p:nvSpPr>
        <p:spPr>
          <a:xfrm>
            <a:off x="4754880" y="3666744"/>
            <a:ext cx="1689585" cy="512064"/>
          </a:xfrm>
          <a:prstGeom prst="roundRect">
            <a:avLst>
              <a:gd name="adj" fmla="val 20000"/>
            </a:avLst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2000" lang="pt-BR" b="1">
                <a:solidFill>
                  <a:srgbClr val="FFFFFF"/>
                </a:solidFill>
              </a:rPr>
              <a:t>37.424</a:t>
            </a:r>
          </a:p>
        </p:txBody>
      </p:sp>
      <p:sp>
        <p:nvSpPr>
          <p:cNvPr id="16" name="Corte 3"/>
          <p:cNvSpPr txBox="1"/>
          <p:nvPr/>
        </p:nvSpPr>
        <p:spPr>
          <a:xfrm>
            <a:off x="7589520" y="3666744"/>
            <a:ext cx="3383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pares molécula-alvo (mediana)</a:t>
            </a:r>
          </a:p>
        </p:txBody>
      </p:sp>
      <p:sp>
        <p:nvSpPr>
          <p:cNvPr id="17" name="Etapa 4"/>
          <p:cNvSpPr/>
          <p:nvPr/>
        </p:nvSpPr>
        <p:spPr>
          <a:xfrm>
            <a:off x="4754880" y="4288536"/>
            <a:ext cx="1463040" cy="512064"/>
          </a:xfrm>
          <a:prstGeom prst="roundRect">
            <a:avLst>
              <a:gd name="adj" fmla="val 20000"/>
            </a:avLst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2000" lang="pt-BR" b="1">
                <a:solidFill>
                  <a:srgbClr val="FFFFFF"/>
                </a:solidFill>
              </a:rPr>
              <a:t>27.798</a:t>
            </a:r>
          </a:p>
        </p:txBody>
      </p:sp>
      <p:sp>
        <p:nvSpPr>
          <p:cNvPr id="18" name="Corte 4"/>
          <p:cNvSpPr txBox="1"/>
          <p:nvPr/>
        </p:nvSpPr>
        <p:spPr>
          <a:xfrm>
            <a:off x="7589520" y="4288536"/>
            <a:ext cx="3383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pares com pChEMBL ≥ 6</a:t>
            </a:r>
          </a:p>
        </p:txBody>
      </p:sp>
      <p:sp>
        <p:nvSpPr>
          <p:cNvPr id="19" name="Etapa 5"/>
          <p:cNvSpPr/>
          <p:nvPr/>
        </p:nvSpPr>
        <p:spPr>
          <a:xfrm>
            <a:off x="4754880" y="4910328"/>
            <a:ext cx="1463040" cy="512064"/>
          </a:xfrm>
          <a:prstGeom prst="roundRect">
            <a:avLst>
              <a:gd name="adj" fmla="val 20000"/>
            </a:avLst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2000" lang="pt-BR" b="1">
                <a:solidFill>
                  <a:srgbClr val="FFFFFF"/>
                </a:solidFill>
              </a:rPr>
              <a:t>27.714</a:t>
            </a:r>
          </a:p>
        </p:txBody>
      </p:sp>
      <p:sp>
        <p:nvSpPr>
          <p:cNvPr id="20" name="Corte 5"/>
          <p:cNvSpPr txBox="1"/>
          <p:nvPr/>
        </p:nvSpPr>
        <p:spPr>
          <a:xfrm>
            <a:off x="7589520" y="4910328"/>
            <a:ext cx="3383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moléculas de alvo único (−42)</a:t>
            </a:r>
          </a:p>
        </p:txBody>
      </p:sp>
      <p:sp>
        <p:nvSpPr>
          <p:cNvPr id="21" name="Etapa 6"/>
          <p:cNvSpPr/>
          <p:nvPr/>
        </p:nvSpPr>
        <p:spPr>
          <a:xfrm>
            <a:off x="4754880" y="5532120"/>
            <a:ext cx="1463040" cy="512064"/>
          </a:xfrm>
          <a:prstGeom prst="roundRect">
            <a:avLst>
              <a:gd name="adj" fmla="val 20000"/>
            </a:avLst>
          </a:prstGeom>
          <a:solidFill>
            <a:srgbClr val="0F43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54864" bIns="54864"/>
          <a:lstStyle/>
          <a:p>
            <a:pPr algn="ctr"/>
            <a:r>
              <a:rPr sz="2000" lang="pt-BR" b="1">
                <a:solidFill>
                  <a:srgbClr val="FFFFFF"/>
                </a:solidFill>
              </a:rPr>
              <a:t>27.476</a:t>
            </a:r>
          </a:p>
        </p:txBody>
      </p:sp>
      <p:sp>
        <p:nvSpPr>
          <p:cNvPr id="22" name="Corte 6"/>
          <p:cNvSpPr txBox="1"/>
          <p:nvPr/>
        </p:nvSpPr>
        <p:spPr>
          <a:xfrm>
            <a:off x="7589520" y="5532120"/>
            <a:ext cx="3383280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com os 5 descritores (−238)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A base traz 5 descritores por molécula, calculados da estrutura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Exemplo: molécula CHEMBL1085117 (HDAC1)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860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Valores do ChEMBL; no próximo slide, a mesma molécula como texto</a:t>
            </a:r>
          </a:p>
        </p:txBody>
      </p:sp>
      <p:sp>
        <p:nvSpPr>
          <p:cNvPr id="7" name="Linha Massa molecular"/>
          <p:cNvSpPr/>
          <p:nvPr/>
        </p:nvSpPr>
        <p:spPr>
          <a:xfrm>
            <a:off x="841248" y="2834640"/>
            <a:ext cx="10058400" cy="585216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me Massa molecular"/>
          <p:cNvSpPr txBox="1"/>
          <p:nvPr/>
        </p:nvSpPr>
        <p:spPr>
          <a:xfrm>
            <a:off x="1051560" y="2834640"/>
            <a:ext cx="2377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Massa molecular</a:t>
            </a:r>
          </a:p>
        </p:txBody>
      </p:sp>
      <p:sp>
        <p:nvSpPr>
          <p:cNvPr id="9" name="Valor Massa molecular"/>
          <p:cNvSpPr txBox="1"/>
          <p:nvPr/>
        </p:nvSpPr>
        <p:spPr>
          <a:xfrm>
            <a:off x="3474720" y="2834640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F4334"/>
                </a:solidFill>
              </a:rPr>
              <a:t>432,53</a:t>
            </a:r>
          </a:p>
        </p:txBody>
      </p:sp>
      <p:sp>
        <p:nvSpPr>
          <p:cNvPr id="10" name="Unidade Massa molecular"/>
          <p:cNvSpPr txBox="1"/>
          <p:nvPr/>
        </p:nvSpPr>
        <p:spPr>
          <a:xfrm>
            <a:off x="5212080" y="2834640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dáltons</a:t>
            </a:r>
          </a:p>
        </p:txBody>
      </p:sp>
      <p:sp>
        <p:nvSpPr>
          <p:cNvPr id="11" name="Significado Massa molecular"/>
          <p:cNvSpPr txBox="1"/>
          <p:nvPr/>
        </p:nvSpPr>
        <p:spPr>
          <a:xfrm>
            <a:off x="6858000" y="2834640"/>
            <a:ext cx="3931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Soma das massas dos átomos</a:t>
            </a:r>
          </a:p>
        </p:txBody>
      </p:sp>
      <p:sp>
        <p:nvSpPr>
          <p:cNvPr id="12" name="Linha LogP"/>
          <p:cNvSpPr/>
          <p:nvPr/>
        </p:nvSpPr>
        <p:spPr>
          <a:xfrm>
            <a:off x="841248" y="3493008"/>
            <a:ext cx="10058400" cy="585216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Nome LogP"/>
          <p:cNvSpPr txBox="1"/>
          <p:nvPr/>
        </p:nvSpPr>
        <p:spPr>
          <a:xfrm>
            <a:off x="1051560" y="3493008"/>
            <a:ext cx="2377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LogP</a:t>
            </a:r>
          </a:p>
        </p:txBody>
      </p:sp>
      <p:sp>
        <p:nvSpPr>
          <p:cNvPr id="14" name="Valor LogP"/>
          <p:cNvSpPr txBox="1"/>
          <p:nvPr/>
        </p:nvSpPr>
        <p:spPr>
          <a:xfrm>
            <a:off x="3474720" y="3493008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F4334"/>
                </a:solidFill>
              </a:rPr>
              <a:t>1,88</a:t>
            </a:r>
          </a:p>
        </p:txBody>
      </p:sp>
      <p:sp>
        <p:nvSpPr>
          <p:cNvPr id="15" name="Unidade LogP"/>
          <p:cNvSpPr txBox="1"/>
          <p:nvPr/>
        </p:nvSpPr>
        <p:spPr>
          <a:xfrm>
            <a:off x="5212080" y="3493008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sem unidade</a:t>
            </a:r>
          </a:p>
        </p:txBody>
      </p:sp>
      <p:sp>
        <p:nvSpPr>
          <p:cNvPr id="16" name="Significado LogP"/>
          <p:cNvSpPr txBox="1"/>
          <p:nvPr/>
        </p:nvSpPr>
        <p:spPr>
          <a:xfrm>
            <a:off x="6858000" y="3493008"/>
            <a:ext cx="3931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Quanto prefere gordura a água</a:t>
            </a:r>
          </a:p>
        </p:txBody>
      </p:sp>
      <p:sp>
        <p:nvSpPr>
          <p:cNvPr id="17" name="Linha HBA"/>
          <p:cNvSpPr/>
          <p:nvPr/>
        </p:nvSpPr>
        <p:spPr>
          <a:xfrm>
            <a:off x="841248" y="4151376"/>
            <a:ext cx="10058400" cy="585216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Nome HBA"/>
          <p:cNvSpPr txBox="1"/>
          <p:nvPr/>
        </p:nvSpPr>
        <p:spPr>
          <a:xfrm>
            <a:off x="1051560" y="4151376"/>
            <a:ext cx="2377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HBA</a:t>
            </a:r>
          </a:p>
        </p:txBody>
      </p:sp>
      <p:sp>
        <p:nvSpPr>
          <p:cNvPr id="19" name="Valor HBA"/>
          <p:cNvSpPr txBox="1"/>
          <p:nvPr/>
        </p:nvSpPr>
        <p:spPr>
          <a:xfrm>
            <a:off x="3474720" y="4151376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F4334"/>
                </a:solidFill>
              </a:rPr>
              <a:t>7</a:t>
            </a:r>
          </a:p>
        </p:txBody>
      </p:sp>
      <p:sp>
        <p:nvSpPr>
          <p:cNvPr id="20" name="Unidade HBA"/>
          <p:cNvSpPr txBox="1"/>
          <p:nvPr/>
        </p:nvSpPr>
        <p:spPr>
          <a:xfrm>
            <a:off x="5212080" y="4151376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átomos</a:t>
            </a:r>
          </a:p>
        </p:txBody>
      </p:sp>
      <p:sp>
        <p:nvSpPr>
          <p:cNvPr id="21" name="Significado HBA"/>
          <p:cNvSpPr txBox="1"/>
          <p:nvPr/>
        </p:nvSpPr>
        <p:spPr>
          <a:xfrm>
            <a:off x="6858000" y="4151376"/>
            <a:ext cx="3931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Aceitam ligação de hidrogênio</a:t>
            </a:r>
          </a:p>
        </p:txBody>
      </p:sp>
      <p:sp>
        <p:nvSpPr>
          <p:cNvPr id="22" name="Linha HBD"/>
          <p:cNvSpPr/>
          <p:nvPr/>
        </p:nvSpPr>
        <p:spPr>
          <a:xfrm>
            <a:off x="841248" y="4809744"/>
            <a:ext cx="10058400" cy="585216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Nome HBD"/>
          <p:cNvSpPr txBox="1"/>
          <p:nvPr/>
        </p:nvSpPr>
        <p:spPr>
          <a:xfrm>
            <a:off x="1051560" y="4809744"/>
            <a:ext cx="2377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HBD</a:t>
            </a:r>
          </a:p>
        </p:txBody>
      </p:sp>
      <p:sp>
        <p:nvSpPr>
          <p:cNvPr id="24" name="Valor HBD"/>
          <p:cNvSpPr txBox="1"/>
          <p:nvPr/>
        </p:nvSpPr>
        <p:spPr>
          <a:xfrm>
            <a:off x="3474720" y="4809744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F4334"/>
                </a:solidFill>
              </a:rPr>
              <a:t>4</a:t>
            </a:r>
          </a:p>
        </p:txBody>
      </p:sp>
      <p:sp>
        <p:nvSpPr>
          <p:cNvPr id="25" name="Unidade HBD"/>
          <p:cNvSpPr txBox="1"/>
          <p:nvPr/>
        </p:nvSpPr>
        <p:spPr>
          <a:xfrm>
            <a:off x="5212080" y="4809744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grupos</a:t>
            </a:r>
          </a:p>
        </p:txBody>
      </p:sp>
      <p:sp>
        <p:nvSpPr>
          <p:cNvPr id="26" name="Significado HBD"/>
          <p:cNvSpPr txBox="1"/>
          <p:nvPr/>
        </p:nvSpPr>
        <p:spPr>
          <a:xfrm>
            <a:off x="6858000" y="4809744"/>
            <a:ext cx="3931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Doam ligação de hidrogênio</a:t>
            </a:r>
          </a:p>
        </p:txBody>
      </p:sp>
      <p:sp>
        <p:nvSpPr>
          <p:cNvPr id="27" name="Linha TPSA"/>
          <p:cNvSpPr/>
          <p:nvPr/>
        </p:nvSpPr>
        <p:spPr>
          <a:xfrm>
            <a:off x="841248" y="5468112"/>
            <a:ext cx="10058400" cy="585216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Nome TPSA"/>
          <p:cNvSpPr txBox="1"/>
          <p:nvPr/>
        </p:nvSpPr>
        <p:spPr>
          <a:xfrm>
            <a:off x="1051560" y="5468112"/>
            <a:ext cx="237744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TPSA</a:t>
            </a:r>
          </a:p>
        </p:txBody>
      </p:sp>
      <p:sp>
        <p:nvSpPr>
          <p:cNvPr id="29" name="Valor TPSA"/>
          <p:cNvSpPr txBox="1"/>
          <p:nvPr/>
        </p:nvSpPr>
        <p:spPr>
          <a:xfrm>
            <a:off x="3474720" y="5468112"/>
            <a:ext cx="173736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F4334"/>
                </a:solidFill>
              </a:rPr>
              <a:t>128,59</a:t>
            </a:r>
          </a:p>
        </p:txBody>
      </p:sp>
      <p:sp>
        <p:nvSpPr>
          <p:cNvPr id="30" name="Unidade TPSA"/>
          <p:cNvSpPr txBox="1"/>
          <p:nvPr/>
        </p:nvSpPr>
        <p:spPr>
          <a:xfrm>
            <a:off x="5212080" y="5468112"/>
            <a:ext cx="155448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Å²</a:t>
            </a:r>
          </a:p>
        </p:txBody>
      </p:sp>
      <p:sp>
        <p:nvSpPr>
          <p:cNvPr id="31" name="Significado TPSA"/>
          <p:cNvSpPr txBox="1"/>
          <p:nvPr/>
        </p:nvSpPr>
        <p:spPr>
          <a:xfrm>
            <a:off x="6858000" y="5468112"/>
            <a:ext cx="3931920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Área ocupada por átomos polares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Cinco descritores não bastam; contar o SMILES ajuda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Acurácia com um só descritor</a:t>
            </a:r>
          </a:p>
        </p:txBody>
      </p:sp>
      <p:graphicFrame>
        <p:nvGraphicFramePr>
          <p:cNvPr id="6" name="Chart 5" descr="Gráfico de barras: acurácia de uma árvore com um só descritor. HBD 45,1%, TPSA 44,9%, HBA 43,3%, LogP 38,7% e massa molecular 37,8%."/>
          <p:cNvGraphicFramePr>
            <a:graphicFrameLocks noGrp="1"/>
          </p:cNvGraphicFramePr>
          <p:nvPr/>
        </p:nvGraphicFramePr>
        <p:xfrm>
          <a:off x="841248" y="2286000"/>
          <a:ext cx="4846320" cy="31089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Piso"/>
          <p:cNvSpPr txBox="1"/>
          <p:nvPr/>
        </p:nvSpPr>
        <p:spPr>
          <a:xfrm>
            <a:off x="841248" y="54864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lang="pt-BR" b="1">
                <a:solidFill>
                  <a:srgbClr val="1F2A2E"/>
                </a:solidFill>
              </a:rPr>
              <a:t>Piso: </a:t>
            </a:r>
            <a:r>
              <a:rPr sz="2000" lang="pt-BR" b="0">
                <a:solidFill>
                  <a:srgbClr val="1F2A2E"/>
                </a:solidFill>
              </a:rPr>
              <a:t>sempre EGFR = 29,3%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8288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12 atributos do SMILES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2860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Texto que descreve a molécula</a:t>
            </a:r>
          </a:p>
        </p:txBody>
      </p:sp>
      <p:sp>
        <p:nvSpPr>
          <p:cNvPr id="10" name="SMILES de exemplo"/>
          <p:cNvSpPr/>
          <p:nvPr/>
        </p:nvSpPr>
        <p:spPr>
          <a:xfrm>
            <a:off x="6126480" y="2743200"/>
            <a:ext cx="4846320" cy="86868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lang="pt-BR" b="0">
                <a:solidFill>
                  <a:srgbClr val="1F2A2E"/>
                </a:solidFill>
                <a:latin typeface="Courier New"/>
              </a:rPr>
              <a:t>CCN(CC)CCn1cnc2cc(C(=O)N</a:t>
            </a:r>
          </a:p>
          <a:p>
            <a:pPr algn="ctr"/>
            <a:r>
              <a:rPr sz="1800" lang="pt-BR" b="0">
                <a:solidFill>
                  <a:srgbClr val="1F2A2E"/>
                </a:solidFill>
                <a:latin typeface="Courier New"/>
              </a:rPr>
              <a:t>C(=O)NCCCCCC(=O)NO)ccc21</a:t>
            </a:r>
          </a:p>
        </p:txBody>
      </p:sp>
      <p:sp>
        <p:nvSpPr>
          <p:cNvPr id="11" name="Contagem comprimento"/>
          <p:cNvSpPr/>
          <p:nvPr/>
        </p:nvSpPr>
        <p:spPr>
          <a:xfrm>
            <a:off x="6126480" y="379476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 bIns="54864"/>
          <a:lstStyle/>
          <a:p>
            <a:pPr algn="ctr">
              <a:spcAft>
                <a:spcPts val="0"/>
              </a:spcAft>
            </a:pPr>
            <a:r>
              <a:rPr sz="3200" lang="pt-BR" b="1">
                <a:solidFill>
                  <a:srgbClr val="09846C"/>
                </a:solidFill>
              </a:rPr>
              <a:t>48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comprimento</a:t>
            </a:r>
          </a:p>
        </p:txBody>
      </p:sp>
      <p:sp>
        <p:nvSpPr>
          <p:cNvPr id="12" name="Contagem átomos de N"/>
          <p:cNvSpPr/>
          <p:nvPr/>
        </p:nvSpPr>
        <p:spPr>
          <a:xfrm>
            <a:off x="7772400" y="379476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 bIns="54864"/>
          <a:lstStyle/>
          <a:p>
            <a:pPr algn="ctr">
              <a:spcAft>
                <a:spcPts val="0"/>
              </a:spcAft>
            </a:pPr>
            <a:r>
              <a:rPr sz="3200" lang="pt-BR" b="1">
                <a:solidFill>
                  <a:srgbClr val="09846C"/>
                </a:solidFill>
              </a:rPr>
              <a:t>6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átomos de N</a:t>
            </a:r>
          </a:p>
        </p:txBody>
      </p:sp>
      <p:sp>
        <p:nvSpPr>
          <p:cNvPr id="13" name="Contagem átomos de O"/>
          <p:cNvSpPr/>
          <p:nvPr/>
        </p:nvSpPr>
        <p:spPr>
          <a:xfrm>
            <a:off x="9418320" y="379476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 bIns="54864"/>
          <a:lstStyle/>
          <a:p>
            <a:pPr algn="ctr">
              <a:spcAft>
                <a:spcPts val="0"/>
              </a:spcAft>
            </a:pPr>
            <a:r>
              <a:rPr sz="3200" lang="pt-BR" b="1">
                <a:solidFill>
                  <a:srgbClr val="09846C"/>
                </a:solidFill>
              </a:rPr>
              <a:t>4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átomos de O</a:t>
            </a:r>
          </a:p>
        </p:txBody>
      </p:sp>
      <p:sp>
        <p:nvSpPr>
          <p:cNvPr id="14" name="Contagem anéis"/>
          <p:cNvSpPr/>
          <p:nvPr/>
        </p:nvSpPr>
        <p:spPr>
          <a:xfrm>
            <a:off x="6126480" y="498348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 bIns="54864"/>
          <a:lstStyle/>
          <a:p>
            <a:pPr algn="ctr">
              <a:spcAft>
                <a:spcPts val="0"/>
              </a:spcAft>
            </a:pPr>
            <a:r>
              <a:rPr sz="3200" lang="pt-BR" b="1">
                <a:solidFill>
                  <a:srgbClr val="09846C"/>
                </a:solidFill>
              </a:rPr>
              <a:t>2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anéis</a:t>
            </a:r>
          </a:p>
        </p:txBody>
      </p:sp>
      <p:sp>
        <p:nvSpPr>
          <p:cNvPr id="15" name="Contagem aromáticos"/>
          <p:cNvSpPr/>
          <p:nvPr/>
        </p:nvSpPr>
        <p:spPr>
          <a:xfrm>
            <a:off x="7772400" y="498348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 bIns="54864"/>
          <a:lstStyle/>
          <a:p>
            <a:pPr algn="ctr">
              <a:spcAft>
                <a:spcPts val="0"/>
              </a:spcAft>
            </a:pPr>
            <a:r>
              <a:rPr sz="3200" lang="pt-BR" b="1">
                <a:solidFill>
                  <a:srgbClr val="09846C"/>
                </a:solidFill>
              </a:rPr>
              <a:t>9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aromáticos</a:t>
            </a:r>
          </a:p>
        </p:txBody>
      </p:sp>
      <p:sp>
        <p:nvSpPr>
          <p:cNvPr id="16" name="Contagem ligações duplas"/>
          <p:cNvSpPr/>
          <p:nvPr/>
        </p:nvSpPr>
        <p:spPr>
          <a:xfrm>
            <a:off x="9418320" y="4983480"/>
            <a:ext cx="155448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54864" bIns="54864"/>
          <a:lstStyle/>
          <a:p>
            <a:pPr algn="ctr">
              <a:spcAft>
                <a:spcPts val="0"/>
              </a:spcAft>
            </a:pPr>
            <a:r>
              <a:rPr sz="3200" lang="pt-BR" b="1">
                <a:solidFill>
                  <a:srgbClr val="09846C"/>
                </a:solidFill>
              </a:rPr>
              <a:t>3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ligações duplas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A divisão aleatória deixa o teste ver a resposta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Painel Divisão aleatória" descr="Esquema da divisão aleatória: 12 moléculas, em 4 pares de gêmeas, divididas em treino e teste. Dois pares de gêmeas ficam divididos entre treino e teste, ligados por linhas tracejadas."/>
          <p:cNvSpPr/>
          <p:nvPr/>
        </p:nvSpPr>
        <p:spPr>
          <a:xfrm>
            <a:off x="841248" y="1828800"/>
            <a:ext cx="4754880" cy="3017520"/>
          </a:xfrm>
          <a:prstGeom prst="roundRect">
            <a:avLst>
              <a:gd name="adj" fmla="val 8000"/>
            </a:avLst>
          </a:prstGeom>
          <a:solidFill>
            <a:srgbClr val="F5FAF8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0195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Divisão aleatória</a:t>
            </a:r>
          </a:p>
        </p:txBody>
      </p:sp>
      <p:sp>
        <p:nvSpPr>
          <p:cNvPr id="7" name="Zona de treino"/>
          <p:cNvSpPr/>
          <p:nvPr/>
        </p:nvSpPr>
        <p:spPr>
          <a:xfrm>
            <a:off x="1024128" y="23317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Zona de teste"/>
          <p:cNvSpPr/>
          <p:nvPr/>
        </p:nvSpPr>
        <p:spPr>
          <a:xfrm>
            <a:off x="4407408" y="2331720"/>
            <a:ext cx="1005840" cy="1371600"/>
          </a:xfrm>
          <a:prstGeom prst="roundRect">
            <a:avLst>
              <a:gd name="adj" fmla="val 8000"/>
            </a:avLst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37307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lang="pt-BR" b="0">
                <a:solidFill>
                  <a:srgbClr val="1F2A2E"/>
                </a:solidFill>
              </a:rPr>
              <a:t>treino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3730752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lang="pt-BR" b="0">
                <a:solidFill>
                  <a:srgbClr val="1F2A2E"/>
                </a:solidFill>
              </a:rPr>
              <a:t>teste</a:t>
            </a:r>
          </a:p>
        </p:txBody>
      </p:sp>
      <p:cxnSp>
        <p:nvCxnSpPr>
          <p:cNvPr id="11" name="Ligação entre gêmeas"/>
          <p:cNvCxnSpPr/>
          <p:nvPr/>
        </p:nvCxnSpPr>
        <p:spPr>
          <a:xfrm>
            <a:off x="1371600" y="2697480"/>
            <a:ext cx="777240" cy="0"/>
          </a:xfrm>
          <a:prstGeom prst="line">
            <a:avLst/>
          </a:prstGeom>
          <a:ln w="1905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igação entre gêmeas"/>
          <p:cNvCxnSpPr/>
          <p:nvPr/>
        </p:nvCxnSpPr>
        <p:spPr>
          <a:xfrm>
            <a:off x="1371600" y="3383280"/>
            <a:ext cx="777240" cy="0"/>
          </a:xfrm>
          <a:prstGeom prst="line">
            <a:avLst/>
          </a:prstGeom>
          <a:ln w="1905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igação entre gêmeas"/>
          <p:cNvCxnSpPr/>
          <p:nvPr/>
        </p:nvCxnSpPr>
        <p:spPr>
          <a:xfrm>
            <a:off x="3703320" y="2697480"/>
            <a:ext cx="978407" cy="0"/>
          </a:xfrm>
          <a:prstGeom prst="line">
            <a:avLst/>
          </a:prstGeom>
          <a:ln w="31750">
            <a:solidFill>
              <a:srgbClr val="B23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igação entre gêmeas"/>
          <p:cNvCxnSpPr/>
          <p:nvPr/>
        </p:nvCxnSpPr>
        <p:spPr>
          <a:xfrm>
            <a:off x="3703320" y="3383280"/>
            <a:ext cx="978407" cy="0"/>
          </a:xfrm>
          <a:prstGeom prst="line">
            <a:avLst/>
          </a:prstGeom>
          <a:ln w="31750">
            <a:solidFill>
              <a:srgbClr val="B23A2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Molécula"/>
          <p:cNvSpPr/>
          <p:nvPr/>
        </p:nvSpPr>
        <p:spPr>
          <a:xfrm>
            <a:off x="1207008" y="2532888"/>
            <a:ext cx="329184" cy="329184"/>
          </a:xfrm>
          <a:prstGeom prst="ellipse">
            <a:avLst/>
          </a:prstGeom>
          <a:solidFill>
            <a:srgbClr val="2A78D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olécula"/>
          <p:cNvSpPr/>
          <p:nvPr/>
        </p:nvSpPr>
        <p:spPr>
          <a:xfrm>
            <a:off x="1984248" y="2532888"/>
            <a:ext cx="329184" cy="329184"/>
          </a:xfrm>
          <a:prstGeom prst="ellipse">
            <a:avLst/>
          </a:prstGeom>
          <a:solidFill>
            <a:srgbClr val="2A78D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Molécula"/>
          <p:cNvSpPr/>
          <p:nvPr/>
        </p:nvSpPr>
        <p:spPr>
          <a:xfrm>
            <a:off x="1207008" y="3218688"/>
            <a:ext cx="329184" cy="329184"/>
          </a:xfrm>
          <a:prstGeom prst="ellipse">
            <a:avLst/>
          </a:prstGeom>
          <a:solidFill>
            <a:srgbClr val="EB683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olécula"/>
          <p:cNvSpPr/>
          <p:nvPr/>
        </p:nvSpPr>
        <p:spPr>
          <a:xfrm>
            <a:off x="1984248" y="3218688"/>
            <a:ext cx="329184" cy="329184"/>
          </a:xfrm>
          <a:prstGeom prst="ellipse">
            <a:avLst/>
          </a:prstGeom>
          <a:solidFill>
            <a:srgbClr val="EB683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Molécula"/>
          <p:cNvSpPr/>
          <p:nvPr/>
        </p:nvSpPr>
        <p:spPr>
          <a:xfrm>
            <a:off x="3538728" y="2532888"/>
            <a:ext cx="329184" cy="329184"/>
          </a:xfrm>
          <a:prstGeom prst="ellipse">
            <a:avLst/>
          </a:prstGeom>
          <a:solidFill>
            <a:srgbClr val="1BAF7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olécula"/>
          <p:cNvSpPr/>
          <p:nvPr/>
        </p:nvSpPr>
        <p:spPr>
          <a:xfrm>
            <a:off x="3538728" y="3218688"/>
            <a:ext cx="329184" cy="329184"/>
          </a:xfrm>
          <a:prstGeom prst="ellipse">
            <a:avLst/>
          </a:prstGeom>
          <a:solidFill>
            <a:srgbClr val="EDA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Molécula"/>
          <p:cNvSpPr/>
          <p:nvPr/>
        </p:nvSpPr>
        <p:spPr>
          <a:xfrm>
            <a:off x="2761488" y="25328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olécula"/>
          <p:cNvSpPr/>
          <p:nvPr/>
        </p:nvSpPr>
        <p:spPr>
          <a:xfrm>
            <a:off x="2761488" y="32186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olécula"/>
          <p:cNvSpPr/>
          <p:nvPr/>
        </p:nvSpPr>
        <p:spPr>
          <a:xfrm>
            <a:off x="4517136" y="2532888"/>
            <a:ext cx="329184" cy="329184"/>
          </a:xfrm>
          <a:prstGeom prst="ellipse">
            <a:avLst/>
          </a:prstGeom>
          <a:solidFill>
            <a:srgbClr val="1BAF7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Molécula"/>
          <p:cNvSpPr/>
          <p:nvPr/>
        </p:nvSpPr>
        <p:spPr>
          <a:xfrm>
            <a:off x="4517136" y="3218688"/>
            <a:ext cx="329184" cy="329184"/>
          </a:xfrm>
          <a:prstGeom prst="ellipse">
            <a:avLst/>
          </a:prstGeom>
          <a:solidFill>
            <a:srgbClr val="EDA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Molécula"/>
          <p:cNvSpPr/>
          <p:nvPr/>
        </p:nvSpPr>
        <p:spPr>
          <a:xfrm>
            <a:off x="4974336" y="25328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olécula"/>
          <p:cNvSpPr/>
          <p:nvPr/>
        </p:nvSpPr>
        <p:spPr>
          <a:xfrm>
            <a:off x="4974336" y="32186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Legenda do painel"/>
          <p:cNvSpPr txBox="1"/>
          <p:nvPr/>
        </p:nvSpPr>
        <p:spPr>
          <a:xfrm>
            <a:off x="1024128" y="411480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lang="pt-BR" b="1">
                <a:solidFill>
                  <a:srgbClr val="0F4334"/>
                </a:solidFill>
              </a:rPr>
              <a:t>Gêmeas dos dois lados: acertar o teste vira lembrar o treino</a:t>
            </a:r>
          </a:p>
        </p:txBody>
      </p:sp>
      <p:sp>
        <p:nvSpPr>
          <p:cNvPr id="28" name="Painel Divisão agrupada" descr="Esquema da divisão agrupada: 12 moléculas, em 4 pares de gêmeas, divididas em treino e teste. Cada par de gêmeas fica do mesmo lado."/>
          <p:cNvSpPr/>
          <p:nvPr/>
        </p:nvSpPr>
        <p:spPr>
          <a:xfrm>
            <a:off x="6217920" y="1828800"/>
            <a:ext cx="4754880" cy="3017520"/>
          </a:xfrm>
          <a:prstGeom prst="roundRect">
            <a:avLst>
              <a:gd name="adj" fmla="val 8000"/>
            </a:avLst>
          </a:prstGeom>
          <a:solidFill>
            <a:srgbClr val="F5FAF8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190195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lang="pt-BR" b="1">
                <a:solidFill>
                  <a:srgbClr val="0F4334"/>
                </a:solidFill>
              </a:rPr>
              <a:t>Divisão agrupada</a:t>
            </a:r>
          </a:p>
        </p:txBody>
      </p:sp>
      <p:sp>
        <p:nvSpPr>
          <p:cNvPr id="30" name="Zona de treino"/>
          <p:cNvSpPr/>
          <p:nvPr/>
        </p:nvSpPr>
        <p:spPr>
          <a:xfrm>
            <a:off x="6400800" y="2331720"/>
            <a:ext cx="3200400" cy="137160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Zona de teste"/>
          <p:cNvSpPr/>
          <p:nvPr/>
        </p:nvSpPr>
        <p:spPr>
          <a:xfrm>
            <a:off x="9784080" y="2331720"/>
            <a:ext cx="1005840" cy="1371600"/>
          </a:xfrm>
          <a:prstGeom prst="roundRect">
            <a:avLst>
              <a:gd name="adj" fmla="val 8000"/>
            </a:avLst>
          </a:prstGeom>
          <a:solidFill>
            <a:srgbClr val="FFF1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730752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lang="pt-BR" b="0">
                <a:solidFill>
                  <a:srgbClr val="1F2A2E"/>
                </a:solidFill>
              </a:rPr>
              <a:t>treino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730752"/>
            <a:ext cx="1005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lang="pt-BR" b="0">
                <a:solidFill>
                  <a:srgbClr val="1F2A2E"/>
                </a:solidFill>
              </a:rPr>
              <a:t>teste</a:t>
            </a:r>
          </a:p>
        </p:txBody>
      </p:sp>
      <p:cxnSp>
        <p:nvCxnSpPr>
          <p:cNvPr id="34" name="Ligação entre gêmeas"/>
          <p:cNvCxnSpPr/>
          <p:nvPr/>
        </p:nvCxnSpPr>
        <p:spPr>
          <a:xfrm>
            <a:off x="6748272" y="2697480"/>
            <a:ext cx="777240" cy="0"/>
          </a:xfrm>
          <a:prstGeom prst="line">
            <a:avLst/>
          </a:prstGeom>
          <a:ln w="1905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Ligação entre gêmeas"/>
          <p:cNvCxnSpPr/>
          <p:nvPr/>
        </p:nvCxnSpPr>
        <p:spPr>
          <a:xfrm>
            <a:off x="6748272" y="3383280"/>
            <a:ext cx="777240" cy="0"/>
          </a:xfrm>
          <a:prstGeom prst="line">
            <a:avLst/>
          </a:prstGeom>
          <a:ln w="1905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gação entre gêmeas"/>
          <p:cNvCxnSpPr/>
          <p:nvPr/>
        </p:nvCxnSpPr>
        <p:spPr>
          <a:xfrm>
            <a:off x="8302752" y="2697480"/>
            <a:ext cx="777240" cy="0"/>
          </a:xfrm>
          <a:prstGeom prst="line">
            <a:avLst/>
          </a:prstGeom>
          <a:ln w="1905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gação entre gêmeas"/>
          <p:cNvCxnSpPr/>
          <p:nvPr/>
        </p:nvCxnSpPr>
        <p:spPr>
          <a:xfrm>
            <a:off x="10058400" y="2697480"/>
            <a:ext cx="0" cy="685800"/>
          </a:xfrm>
          <a:prstGeom prst="line">
            <a:avLst/>
          </a:prstGeom>
          <a:ln w="1905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Molécula"/>
          <p:cNvSpPr/>
          <p:nvPr/>
        </p:nvSpPr>
        <p:spPr>
          <a:xfrm>
            <a:off x="6583680" y="2532888"/>
            <a:ext cx="329184" cy="329184"/>
          </a:xfrm>
          <a:prstGeom prst="ellipse">
            <a:avLst/>
          </a:prstGeom>
          <a:solidFill>
            <a:srgbClr val="2A78D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Molécula"/>
          <p:cNvSpPr/>
          <p:nvPr/>
        </p:nvSpPr>
        <p:spPr>
          <a:xfrm>
            <a:off x="7360920" y="2532888"/>
            <a:ext cx="329184" cy="329184"/>
          </a:xfrm>
          <a:prstGeom prst="ellipse">
            <a:avLst/>
          </a:prstGeom>
          <a:solidFill>
            <a:srgbClr val="2A78D6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Molécula"/>
          <p:cNvSpPr/>
          <p:nvPr/>
        </p:nvSpPr>
        <p:spPr>
          <a:xfrm>
            <a:off x="6583680" y="3218688"/>
            <a:ext cx="329184" cy="329184"/>
          </a:xfrm>
          <a:prstGeom prst="ellipse">
            <a:avLst/>
          </a:prstGeom>
          <a:solidFill>
            <a:srgbClr val="EB683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Molécula"/>
          <p:cNvSpPr/>
          <p:nvPr/>
        </p:nvSpPr>
        <p:spPr>
          <a:xfrm>
            <a:off x="7360920" y="3218688"/>
            <a:ext cx="329184" cy="329184"/>
          </a:xfrm>
          <a:prstGeom prst="ellipse">
            <a:avLst/>
          </a:prstGeom>
          <a:solidFill>
            <a:srgbClr val="EB6834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olécula"/>
          <p:cNvSpPr/>
          <p:nvPr/>
        </p:nvSpPr>
        <p:spPr>
          <a:xfrm>
            <a:off x="8138160" y="2532888"/>
            <a:ext cx="329184" cy="329184"/>
          </a:xfrm>
          <a:prstGeom prst="ellipse">
            <a:avLst/>
          </a:prstGeom>
          <a:solidFill>
            <a:srgbClr val="1BAF7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Molécula"/>
          <p:cNvSpPr/>
          <p:nvPr/>
        </p:nvSpPr>
        <p:spPr>
          <a:xfrm>
            <a:off x="8915400" y="2532888"/>
            <a:ext cx="329184" cy="329184"/>
          </a:xfrm>
          <a:prstGeom prst="ellipse">
            <a:avLst/>
          </a:prstGeom>
          <a:solidFill>
            <a:srgbClr val="1BAF7A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Molécula"/>
          <p:cNvSpPr/>
          <p:nvPr/>
        </p:nvSpPr>
        <p:spPr>
          <a:xfrm>
            <a:off x="8138160" y="32186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Molécula"/>
          <p:cNvSpPr/>
          <p:nvPr/>
        </p:nvSpPr>
        <p:spPr>
          <a:xfrm>
            <a:off x="8915400" y="32186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Molécula"/>
          <p:cNvSpPr/>
          <p:nvPr/>
        </p:nvSpPr>
        <p:spPr>
          <a:xfrm>
            <a:off x="9893808" y="2532888"/>
            <a:ext cx="329184" cy="329184"/>
          </a:xfrm>
          <a:prstGeom prst="ellipse">
            <a:avLst/>
          </a:prstGeom>
          <a:solidFill>
            <a:srgbClr val="EDA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Molécula"/>
          <p:cNvSpPr/>
          <p:nvPr/>
        </p:nvSpPr>
        <p:spPr>
          <a:xfrm>
            <a:off x="9893808" y="3218688"/>
            <a:ext cx="329184" cy="329184"/>
          </a:xfrm>
          <a:prstGeom prst="ellipse">
            <a:avLst/>
          </a:prstGeom>
          <a:solidFill>
            <a:srgbClr val="EDA100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Molécula"/>
          <p:cNvSpPr/>
          <p:nvPr/>
        </p:nvSpPr>
        <p:spPr>
          <a:xfrm>
            <a:off x="10351008" y="25328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Molécula"/>
          <p:cNvSpPr/>
          <p:nvPr/>
        </p:nvSpPr>
        <p:spPr>
          <a:xfrm>
            <a:off x="10351008" y="3218688"/>
            <a:ext cx="329184" cy="329184"/>
          </a:xfrm>
          <a:prstGeom prst="ellipse">
            <a:avLst/>
          </a:prstGeom>
          <a:solidFill>
            <a:srgbClr val="7A8785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Legenda do painel"/>
          <p:cNvSpPr txBox="1"/>
          <p:nvPr/>
        </p:nvSpPr>
        <p:spPr>
          <a:xfrm>
            <a:off x="6400800" y="4114800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lang="pt-BR" b="1">
                <a:solidFill>
                  <a:srgbClr val="0F4334"/>
                </a:solidFill>
              </a:rPr>
              <a:t>Gêmeas sempre do mesmo lado: o teste exige generalizar</a:t>
            </a:r>
          </a:p>
        </p:txBody>
      </p:sp>
      <p:sp>
        <p:nvSpPr>
          <p:cNvPr id="51" name="Legenda do esquema"/>
          <p:cNvSpPr txBox="1"/>
          <p:nvPr/>
        </p:nvSpPr>
        <p:spPr>
          <a:xfrm>
            <a:off x="841248" y="493776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lang="pt-BR" b="0">
                <a:solidFill>
                  <a:srgbClr val="1F2A2E"/>
                </a:solidFill>
              </a:rPr>
              <a:t>Mesma cor: gêmeas (mesmos 5 descritores) · esquema ilustrativo</a:t>
            </a:r>
          </a:p>
        </p:txBody>
      </p:sp>
      <p:sp>
        <p:nvSpPr>
          <p:cNvPr id="52" name="Destaque gêmeas"/>
          <p:cNvSpPr txBox="1"/>
          <p:nvPr/>
        </p:nvSpPr>
        <p:spPr>
          <a:xfrm>
            <a:off x="841248" y="5394960"/>
            <a:ext cx="2011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4400" lang="pt-BR" b="1">
                <a:solidFill>
                  <a:srgbClr val="09846C"/>
                </a:solidFill>
              </a:rPr>
              <a:t>25,8%</a:t>
            </a:r>
          </a:p>
        </p:txBody>
      </p:sp>
      <p:sp>
        <p:nvSpPr>
          <p:cNvPr id="53" name="Legenda do destaque"/>
          <p:cNvSpPr txBox="1"/>
          <p:nvPr/>
        </p:nvSpPr>
        <p:spPr>
          <a:xfrm>
            <a:off x="2880360" y="5394960"/>
            <a:ext cx="27432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lang="pt-BR" b="0">
                <a:solidFill>
                  <a:srgbClr val="1F2A2E"/>
                </a:solidFill>
              </a:rPr>
              <a:t>do teste tem gêmea no treino (aleatória)</a:t>
            </a:r>
          </a:p>
        </p:txBody>
      </p:sp>
      <p:sp>
        <p:nvSpPr>
          <p:cNvPr id="54" name="Cenários"/>
          <p:cNvSpPr/>
          <p:nvPr/>
        </p:nvSpPr>
        <p:spPr>
          <a:xfrm>
            <a:off x="6217920" y="5394960"/>
            <a:ext cx="4754880" cy="77724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/>
            <a:r>
              <a:rPr sz="2000" lang="pt-BR" b="1">
                <a:solidFill>
                  <a:srgbClr val="0F4334"/>
                </a:solidFill>
              </a:rPr>
              <a:t>3 conjuntos × 2 divisões = 6 cenários</a:t>
            </a:r>
          </a:p>
          <a:p>
            <a:pPr algn="ctr"/>
            <a:r>
              <a:rPr sz="2000" lang="pt-BR" b="1">
                <a:solidFill>
                  <a:srgbClr val="0F4334"/>
                </a:solidFill>
              </a:rPr>
              <a:t>repetidos com 10 seeds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Contar o SMILES eleva a acurácia em 16%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5577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Acurácia por conjunto de atributos</a:t>
            </a:r>
          </a:p>
        </p:txBody>
      </p:sp>
      <p:graphicFrame>
        <p:nvGraphicFramePr>
          <p:cNvPr id="6" name="Chart 5" descr="Gráfico de colunas: acurácia no teste, média de 10 seeds. Descritores: aleatória 81,2%, agrupada 77,1%. SMILES: 88,9% e 87,6%. Ambos: 90,8% e 89,4%."/>
          <p:cNvGraphicFramePr>
            <a:graphicFrameLocks noGrp="1"/>
          </p:cNvGraphicFramePr>
          <p:nvPr/>
        </p:nvGraphicFramePr>
        <p:xfrm>
          <a:off x="841248" y="2286000"/>
          <a:ext cx="5943600" cy="3840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Ganho"/>
          <p:cNvSpPr txBox="1"/>
          <p:nvPr/>
        </p:nvSpPr>
        <p:spPr>
          <a:xfrm>
            <a:off x="6949440" y="1828800"/>
            <a:ext cx="4023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600" lang="pt-BR" b="1">
                <a:solidFill>
                  <a:srgbClr val="09846C"/>
                </a:solidFill>
              </a:rPr>
              <a:t>+16%</a:t>
            </a:r>
          </a:p>
        </p:txBody>
      </p:sp>
      <p:sp>
        <p:nvSpPr>
          <p:cNvPr id="8" name="Legenda do ganho"/>
          <p:cNvSpPr txBox="1"/>
          <p:nvPr/>
        </p:nvSpPr>
        <p:spPr>
          <a:xfrm>
            <a:off x="6949440" y="2880360"/>
            <a:ext cx="4023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lang="pt-BR" b="0">
                <a:solidFill>
                  <a:srgbClr val="1F2A2E"/>
                </a:solidFill>
              </a:rPr>
              <a:t>ganho relativo com as contagens de SMILES (77,1% → 89,4%)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749039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lang="pt-BR" b="1">
                <a:solidFill>
                  <a:srgbClr val="0F4334"/>
                </a:solidFill>
              </a:rPr>
              <a:t>Superestimativa da divisão aleatória</a:t>
            </a:r>
          </a:p>
        </p:txBody>
      </p:sp>
      <p:sp>
        <p:nvSpPr>
          <p:cNvPr id="10" name="Superestimativa descritores"/>
          <p:cNvSpPr txBox="1"/>
          <p:nvPr/>
        </p:nvSpPr>
        <p:spPr>
          <a:xfrm>
            <a:off x="6949440" y="4206240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9846C"/>
                </a:solidFill>
              </a:rPr>
              <a:t>5,3%</a:t>
            </a:r>
            <a:r>
              <a:rPr sz="2000" lang="pt-BR" b="0">
                <a:solidFill>
                  <a:srgbClr val="1F2A2E"/>
                </a:solidFill>
              </a:rPr>
              <a:t>  descritores</a:t>
            </a:r>
          </a:p>
        </p:txBody>
      </p:sp>
      <p:sp>
        <p:nvSpPr>
          <p:cNvPr id="11" name="Superestimativa SMILES"/>
          <p:cNvSpPr txBox="1"/>
          <p:nvPr/>
        </p:nvSpPr>
        <p:spPr>
          <a:xfrm>
            <a:off x="6949440" y="4709159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9846C"/>
                </a:solidFill>
              </a:rPr>
              <a:t>1,5%</a:t>
            </a:r>
            <a:r>
              <a:rPr sz="2000" lang="pt-BR" b="0">
                <a:solidFill>
                  <a:srgbClr val="1F2A2E"/>
                </a:solidFill>
              </a:rPr>
              <a:t>  SMILES</a:t>
            </a:r>
          </a:p>
        </p:txBody>
      </p:sp>
      <p:sp>
        <p:nvSpPr>
          <p:cNvPr id="12" name="Superestimativa ambos"/>
          <p:cNvSpPr txBox="1"/>
          <p:nvPr/>
        </p:nvSpPr>
        <p:spPr>
          <a:xfrm>
            <a:off x="6949440" y="5212079"/>
            <a:ext cx="4023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lang="pt-BR" b="1">
                <a:solidFill>
                  <a:srgbClr val="09846C"/>
                </a:solidFill>
              </a:rPr>
              <a:t>1,5%</a:t>
            </a:r>
            <a:r>
              <a:rPr sz="2000" lang="pt-BR" b="0">
                <a:solidFill>
                  <a:srgbClr val="1F2A2E"/>
                </a:solidFill>
              </a:rPr>
              <a:t>  ambos</a:t>
            </a:r>
          </a:p>
        </p:txBody>
      </p:sp>
      <p:sp>
        <p:nvSpPr>
          <p:cNvPr id="13" name="Nota"/>
          <p:cNvSpPr txBox="1"/>
          <p:nvPr/>
        </p:nvSpPr>
        <p:spPr>
          <a:xfrm>
            <a:off x="6949440" y="5760720"/>
            <a:ext cx="4023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lang="pt-BR" b="0">
                <a:solidFill>
                  <a:srgbClr val="1F2A2E"/>
                </a:solidFill>
              </a:rPr>
              <a:t>Média de 10 seeds; desvio até 0,8%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A Random Forest supera a árvore em 6,4%, mas só a árvore tem regras legíveis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Acurácia na divisão agrupada</a:t>
            </a:r>
          </a:p>
        </p:txBody>
      </p:sp>
      <p:graphicFrame>
        <p:nvGraphicFramePr>
          <p:cNvPr id="6" name="Chart 5" descr="Gráfico de barras: acurácia na divisão agrupada. Sempre EGFR 29,3%, árvore de decisão 89,4%, gradient boosting 94,8%, Random Forest 95,2%."/>
          <p:cNvGraphicFramePr>
            <a:graphicFrameLocks noGrp="1"/>
          </p:cNvGraphicFramePr>
          <p:nvPr/>
        </p:nvGraphicFramePr>
        <p:xfrm>
          <a:off x="841248" y="2331720"/>
          <a:ext cx="4846320" cy="356616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035040" y="182880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Primeiros níveis da árvore</a:t>
            </a:r>
          </a:p>
        </p:txBody>
      </p:sp>
      <p:sp>
        <p:nvSpPr>
          <p:cNvPr id="8" name="Raiz"/>
          <p:cNvSpPr/>
          <p:nvPr/>
        </p:nvSpPr>
        <p:spPr>
          <a:xfrm>
            <a:off x="7132320" y="2377440"/>
            <a:ext cx="2743200" cy="731520"/>
          </a:xfrm>
          <a:prstGeom prst="roundRect">
            <a:avLst>
              <a:gd name="adj" fmla="val 8000"/>
            </a:avLst>
          </a:prstGeom>
          <a:solidFill>
            <a:srgbClr val="0984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/>
            <a:r>
              <a:rPr sz="2400" lang="pt-BR" b="1">
                <a:solidFill>
                  <a:srgbClr val="FFFFFF"/>
                </a:solidFill>
              </a:rPr>
              <a:t>TPSA ≤ 67,9?</a:t>
            </a:r>
          </a:p>
        </p:txBody>
      </p:sp>
      <p:cxnSp>
        <p:nvCxnSpPr>
          <p:cNvPr id="9" name="Ramo sim"/>
          <p:cNvCxnSpPr/>
          <p:nvPr/>
        </p:nvCxnSpPr>
        <p:spPr>
          <a:xfrm flipH="1">
            <a:off x="7223760" y="3108960"/>
            <a:ext cx="1280160" cy="640079"/>
          </a:xfrm>
          <a:prstGeom prst="line">
            <a:avLst/>
          </a:prstGeom>
          <a:ln w="2540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amo não"/>
          <p:cNvCxnSpPr/>
          <p:nvPr/>
        </p:nvCxnSpPr>
        <p:spPr>
          <a:xfrm>
            <a:off x="8503920" y="3108960"/>
            <a:ext cx="1280160" cy="640079"/>
          </a:xfrm>
          <a:prstGeom prst="line">
            <a:avLst/>
          </a:prstGeom>
          <a:ln w="25400">
            <a:solidFill>
              <a:srgbClr val="3C46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amo sim"/>
          <p:cNvSpPr/>
          <p:nvPr/>
        </p:nvSpPr>
        <p:spPr>
          <a:xfrm>
            <a:off x="6035040" y="3749039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D2F0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2000" lang="pt-BR" b="1">
                <a:solidFill>
                  <a:srgbClr val="1F2A2E"/>
                </a:solidFill>
              </a:rPr>
              <a:t>Sim: 25,5%</a:t>
            </a:r>
          </a:p>
          <a:p>
            <a:pPr algn="l">
              <a:spcAft>
                <a:spcPts val="200"/>
              </a:spcAft>
            </a:pPr>
            <a:r>
              <a:rPr sz="2000" lang="pt-BR" b="0">
                <a:solidFill>
                  <a:srgbClr val="1F2A2E"/>
                </a:solidFill>
              </a:rPr>
              <a:t>69% são DRD2</a:t>
            </a:r>
          </a:p>
          <a:p>
            <a:pPr algn="l"/>
            <a:r>
              <a:rPr sz="1800" lang="pt-BR" b="0">
                <a:solidFill>
                  <a:srgbClr val="1F2A2E"/>
                </a:solidFill>
              </a:rPr>
              <a:t>depois: aromáticos ≤ 14?</a:t>
            </a:r>
          </a:p>
        </p:txBody>
      </p:sp>
      <p:sp>
        <p:nvSpPr>
          <p:cNvPr id="12" name="Ramo não"/>
          <p:cNvSpPr/>
          <p:nvPr/>
        </p:nvSpPr>
        <p:spPr>
          <a:xfrm>
            <a:off x="8595360" y="3749039"/>
            <a:ext cx="23774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8A97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9728" rIns="109728" tIns="54864" bIns="54864"/>
          <a:lstStyle/>
          <a:p>
            <a:pPr algn="l">
              <a:spcAft>
                <a:spcPts val="200"/>
              </a:spcAft>
            </a:pPr>
            <a:r>
              <a:rPr sz="2000" lang="pt-BR" b="1">
                <a:solidFill>
                  <a:srgbClr val="1F2A2E"/>
                </a:solidFill>
              </a:rPr>
              <a:t>Não: 74,5%</a:t>
            </a:r>
          </a:p>
          <a:p>
            <a:pPr algn="l">
              <a:spcAft>
                <a:spcPts val="200"/>
              </a:spcAft>
            </a:pPr>
            <a:r>
              <a:rPr sz="2000" lang="pt-BR" b="0">
                <a:solidFill>
                  <a:srgbClr val="1F2A2E"/>
                </a:solidFill>
              </a:rPr>
              <a:t>34% EGFR (mistura)</a:t>
            </a:r>
          </a:p>
          <a:p>
            <a:pPr algn="l"/>
            <a:r>
              <a:rPr sz="1800" lang="pt-BR" b="0">
                <a:solidFill>
                  <a:srgbClr val="1F2A2E"/>
                </a:solidFill>
              </a:rPr>
              <a:t>depois: aromáticos ≤ 12?</a:t>
            </a:r>
          </a:p>
        </p:txBody>
      </p:sp>
      <p:sp>
        <p:nvSpPr>
          <p:cNvPr id="13" name="Legenda da árvore"/>
          <p:cNvSpPr txBox="1"/>
          <p:nvPr/>
        </p:nvSpPr>
        <p:spPr>
          <a:xfrm>
            <a:off x="6035040" y="5486400"/>
            <a:ext cx="4937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lang="pt-BR" b="0">
                <a:solidFill>
                  <a:srgbClr val="1F2A2E"/>
                </a:solidFill>
              </a:rPr>
              <a:t>Árvore completa: 1.854 folhas. TPSA e aromáticos lideram a importância.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A árvore erra entre HDAC1 e EGFR e não sabe que errou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lang="pt-BR" b="1">
                <a:solidFill>
                  <a:srgbClr val="0F4334"/>
                </a:solidFill>
              </a:rPr>
              <a:t>Matriz de confusão no teste (seed 42)</a:t>
            </a:r>
          </a:p>
        </p:txBody>
      </p:sp>
      <p:graphicFrame>
        <p:nvGraphicFramePr>
          <p:cNvPr id="6" name="Matriz de confusão" descr="Matriz de confusão no teste, em contagens. Linhas: classe real; colunas: classe prevista. EGFR: EGFR 1449, BACE1 49, DRD2 39, HDAC1 75. BACE1: EGFR 52, BACE1 1335, DRD2 31, HDAC1 45. DRD2: EGFR 63, BACE1 41, DRD2 1178, HDAC1 25. HDAC1: EGFR 88, BACE1 42, DRD2 18, HDAC1 966."/>
          <p:cNvGraphicFramePr>
            <a:graphicFrameLocks noGrp="1"/>
          </p:cNvGraphicFramePr>
          <p:nvPr/>
        </p:nvGraphicFramePr>
        <p:xfrm>
          <a:off x="841248" y="2331720"/>
          <a:ext cx="5303520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80160"/>
                <a:gridCol w="1005840"/>
                <a:gridCol w="1005840"/>
                <a:gridCol w="1005840"/>
                <a:gridCol w="100584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/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EGFR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BACE1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DRD2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HDAC1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EGFR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FFFFFF"/>
                          </a:solidFill>
                        </a:rPr>
                        <a:t>1.449</a:t>
                      </a:r>
                    </a:p>
                  </a:txBody>
                  <a:tcPr anchor="ctr" marL="36576" marR="36576">
                    <a:solidFill>
                      <a:srgbClr val="2290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49</a:t>
                      </a:r>
                    </a:p>
                  </a:txBody>
                  <a:tcPr anchor="ctr" marL="36576" marR="36576">
                    <a:solidFill>
                      <a:srgbClr val="F8FB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39</a:t>
                      </a:r>
                    </a:p>
                  </a:txBody>
                  <a:tcPr anchor="ctr" marL="36576" marR="36576">
                    <a:solidFill>
                      <a:srgbClr val="F9FC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75</a:t>
                      </a:r>
                    </a:p>
                  </a:txBody>
                  <a:tcPr anchor="ctr" marL="36576" marR="36576">
                    <a:solidFill>
                      <a:srgbClr val="F4F9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BACE1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52</a:t>
                      </a:r>
                    </a:p>
                  </a:txBody>
                  <a:tcPr anchor="ctr" marL="36576" marR="36576">
                    <a:solidFill>
                      <a:srgbClr val="F6F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FFFFFF"/>
                          </a:solidFill>
                        </a:rPr>
                        <a:t>1.335</a:t>
                      </a:r>
                    </a:p>
                  </a:txBody>
                  <a:tcPr anchor="ctr" marL="36576" marR="36576">
                    <a:solidFill>
                      <a:srgbClr val="1F8F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31</a:t>
                      </a:r>
                    </a:p>
                  </a:txBody>
                  <a:tcPr anchor="ctr" marL="36576" marR="36576">
                    <a:solidFill>
                      <a:srgbClr val="FAFC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45</a:t>
                      </a:r>
                    </a:p>
                  </a:txBody>
                  <a:tcPr anchor="ctr" marL="36576" marR="36576">
                    <a:solidFill>
                      <a:srgbClr val="F7FB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DRD2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63</a:t>
                      </a:r>
                    </a:p>
                  </a:txBody>
                  <a:tcPr anchor="ctr" marL="36576" marR="36576">
                    <a:solidFill>
                      <a:srgbClr val="F3F9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41</a:t>
                      </a:r>
                    </a:p>
                  </a:txBody>
                  <a:tcPr anchor="ctr" marL="36576" marR="36576">
                    <a:solidFill>
                      <a:srgbClr val="F7FB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FFFFFF"/>
                          </a:solidFill>
                        </a:rPr>
                        <a:t>1.178</a:t>
                      </a:r>
                    </a:p>
                  </a:txBody>
                  <a:tcPr anchor="ctr" marL="36576" marR="36576">
                    <a:solidFill>
                      <a:srgbClr val="2190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25</a:t>
                      </a:r>
                    </a:p>
                  </a:txBody>
                  <a:tcPr anchor="ctr" marL="36576" marR="36576">
                    <a:solidFill>
                      <a:srgbClr val="FAFD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1F2A2E"/>
                          </a:solidFill>
                        </a:rPr>
                        <a:t>HDAC1</a:t>
                      </a:r>
                    </a:p>
                  </a:txBody>
                  <a:tcPr anchor="ctr"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88</a:t>
                      </a:r>
                    </a:p>
                  </a:txBody>
                  <a:tcPr anchor="ctr" marL="36576" marR="36576">
                    <a:solidFill>
                      <a:srgbClr val="ECF5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42</a:t>
                      </a:r>
                    </a:p>
                  </a:txBody>
                  <a:tcPr anchor="ctr" marL="36576" marR="36576">
                    <a:solidFill>
                      <a:srgbClr val="F6FA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0">
                          <a:solidFill>
                            <a:srgbClr val="1F2A2E"/>
                          </a:solidFill>
                        </a:rPr>
                        <a:t>18</a:t>
                      </a:r>
                    </a:p>
                  </a:txBody>
                  <a:tcPr anchor="ctr" marL="36576" marR="36576">
                    <a:solidFill>
                      <a:srgbClr val="FBFD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lang="pt-BR" b="1">
                          <a:solidFill>
                            <a:srgbClr val="FFFFFF"/>
                          </a:solidFill>
                        </a:rPr>
                        <a:t>966</a:t>
                      </a:r>
                    </a:p>
                  </a:txBody>
                  <a:tcPr anchor="ctr" marL="36576" marR="36576">
                    <a:solidFill>
                      <a:srgbClr val="2A9480"/>
                    </a:solidFill>
                  </a:tcPr>
                </a:tc>
              </a:tr>
            </a:tbl>
          </a:graphicData>
        </a:graphic>
      </p:graphicFrame>
      <p:sp>
        <p:nvSpPr>
          <p:cNvPr id="7" name="Legenda da matriz"/>
          <p:cNvSpPr txBox="1"/>
          <p:nvPr/>
        </p:nvSpPr>
        <p:spPr>
          <a:xfrm>
            <a:off x="841248" y="562356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lang="pt-BR" b="0">
                <a:solidFill>
                  <a:srgbClr val="1F2A2E"/>
                </a:solidFill>
              </a:rPr>
              <a:t>Linha: classe real · coluna: prevista</a:t>
            </a:r>
          </a:p>
        </p:txBody>
      </p:sp>
      <p:sp>
        <p:nvSpPr>
          <p:cNvPr id="8" name="Destaque do par"/>
          <p:cNvSpPr txBox="1"/>
          <p:nvPr/>
        </p:nvSpPr>
        <p:spPr>
          <a:xfrm>
            <a:off x="6492240" y="1828800"/>
            <a:ext cx="44805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lang="pt-BR" b="1">
                <a:solidFill>
                  <a:srgbClr val="09846C"/>
                </a:solidFill>
              </a:rPr>
              <a:t>28,7%</a:t>
            </a:r>
          </a:p>
          <a:p>
            <a:pPr algn="l"/>
            <a:r>
              <a:rPr sz="2200" lang="pt-BR" b="0">
                <a:solidFill>
                  <a:srgbClr val="1F2A2E"/>
                </a:solidFill>
              </a:rPr>
              <a:t>dos erros são HDAC1 ↔ EGFR</a:t>
            </a:r>
          </a:p>
        </p:txBody>
      </p:sp>
      <p:sp>
        <p:nvSpPr>
          <p:cNvPr id="9" name="Limite dos atributos"/>
          <p:cNvSpPr txBox="1"/>
          <p:nvPr/>
        </p:nvSpPr>
        <p:spPr>
          <a:xfrm>
            <a:off x="6492240" y="3108960"/>
            <a:ext cx="4480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lang="pt-BR" b="1">
                <a:solidFill>
                  <a:srgbClr val="1F2A2E"/>
                </a:solidFill>
              </a:rPr>
              <a:t>Por que erra?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Os atributos tirados do SMILES são só contagens e podem não bastar para representar a molécula</a:t>
            </a:r>
          </a:p>
        </p:txBody>
      </p:sp>
      <p:sp>
        <p:nvSpPr>
          <p:cNvPr id="10" name="Destaque da confiança"/>
          <p:cNvSpPr txBox="1"/>
          <p:nvPr/>
        </p:nvSpPr>
        <p:spPr>
          <a:xfrm>
            <a:off x="6492240" y="4754880"/>
            <a:ext cx="44805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800" lang="pt-BR" b="1">
                <a:solidFill>
                  <a:srgbClr val="09846C"/>
                </a:solidFill>
              </a:rPr>
              <a:t>100%</a:t>
            </a:r>
          </a:p>
          <a:p>
            <a:pPr algn="l"/>
            <a:r>
              <a:rPr sz="2000" lang="pt-BR" b="0">
                <a:solidFill>
                  <a:srgbClr val="1F2A2E"/>
                </a:solidFill>
              </a:rPr>
              <a:t>de confiança nas 5.496 previsões; 10,3% erradas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Fundo SBC" descr="Fundo decorativo do template da SB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 lIns="0"/>
          <a:lstStyle/>
          <a:p>
            <a:r>
              <a:rPr sz="4000" b="1" lang="pt-BR">
                <a:solidFill>
                  <a:srgbClr val="0F4334"/>
                </a:solidFill>
                <a:latin typeface="Calibri"/>
              </a:rPr>
              <a:t>Conclusões e limites</a:t>
            </a:r>
          </a:p>
        </p:txBody>
      </p:sp>
      <p:sp>
        <p:nvSpPr>
          <p:cNvPr id="4" name="Número do slide"/>
          <p:cNvSpPr>
            <a:spLocks noGrp="1"/>
          </p:cNvSpPr>
          <p:nvPr>
            <p:ph type="sldNum" sz="quarter" idx="12"/>
          </p:nvPr>
        </p:nvSpPr>
        <p:spPr>
          <a:xfrm>
            <a:off x="9966960" y="6172200"/>
            <a:ext cx="1097280" cy="365760"/>
          </a:xfrm>
        </p:spPr>
        <p:txBody>
          <a:bodyPr lIns="0" rIns="0" anchor="ctr"/>
          <a:lstStyle/>
          <a:p>
            <a:pPr algn="r"/>
            <a:fld id="{B6F15528-21DE-4FAA-801E-634DDDAF4B2B}" type="slidenum">
              <a:rPr lang="pt-BR" sz="1800" b="1">
                <a:solidFill>
                  <a:srgbClr val="3C4649"/>
                </a:solidFill>
              </a:rPr>
              <a:t>‹#›</a:t>
            </a:fld>
            <a:endParaRPr lang="pt-BR" sz="1800"/>
          </a:p>
        </p:txBody>
      </p:sp>
      <p:sp>
        <p:nvSpPr>
          <p:cNvPr id="5" name="Número 1"/>
          <p:cNvSpPr/>
          <p:nvPr/>
        </p:nvSpPr>
        <p:spPr>
          <a:xfrm>
            <a:off x="841248" y="18288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>
              <a:spcAft>
                <a:spcPts val="400"/>
              </a:spcAft>
            </a:pPr>
            <a:r>
              <a:rPr sz="4000" lang="pt-BR" b="1">
                <a:solidFill>
                  <a:srgbClr val="0F4334"/>
                </a:solidFill>
              </a:rPr>
              <a:t>89,4%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acurácia da árvore na divisão agrupada, com 17 atributos</a:t>
            </a:r>
          </a:p>
        </p:txBody>
      </p:sp>
      <p:sp>
        <p:nvSpPr>
          <p:cNvPr id="6" name="Número 2"/>
          <p:cNvSpPr/>
          <p:nvPr/>
        </p:nvSpPr>
        <p:spPr>
          <a:xfrm>
            <a:off x="4297680" y="18288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>
              <a:spcAft>
                <a:spcPts val="400"/>
              </a:spcAft>
            </a:pPr>
            <a:r>
              <a:rPr sz="4000" lang="pt-BR" b="1">
                <a:solidFill>
                  <a:srgbClr val="0F4334"/>
                </a:solidFill>
              </a:rPr>
              <a:t>+16%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ganho relativo ao contar o SMILES, sobre só os descritores</a:t>
            </a:r>
          </a:p>
        </p:txBody>
      </p:sp>
      <p:sp>
        <p:nvSpPr>
          <p:cNvPr id="7" name="Número 3"/>
          <p:cNvSpPr/>
          <p:nvPr/>
        </p:nvSpPr>
        <p:spPr>
          <a:xfrm>
            <a:off x="7754112" y="1828800"/>
            <a:ext cx="3246120" cy="2011680"/>
          </a:xfrm>
          <a:prstGeom prst="roundRect">
            <a:avLst>
              <a:gd name="adj" fmla="val 8000"/>
            </a:avLst>
          </a:prstGeom>
          <a:solidFill>
            <a:srgbClr val="E3F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54864" bIns="54864"/>
          <a:lstStyle/>
          <a:p>
            <a:pPr algn="ctr">
              <a:spcAft>
                <a:spcPts val="400"/>
              </a:spcAft>
            </a:pPr>
            <a:r>
              <a:rPr sz="4000" lang="pt-BR" b="1">
                <a:solidFill>
                  <a:srgbClr val="0F4334"/>
                </a:solidFill>
              </a:rPr>
              <a:t>1,5% a 5,3%</a:t>
            </a:r>
          </a:p>
          <a:p>
            <a:pPr algn="ctr"/>
            <a:r>
              <a:rPr sz="1800" lang="pt-BR" b="0">
                <a:solidFill>
                  <a:srgbClr val="1F2A2E"/>
                </a:solidFill>
              </a:rPr>
              <a:t>quanto a divisão aleatória superestima a acurácia</a:t>
            </a:r>
          </a:p>
        </p:txBody>
      </p:sp>
      <p:sp>
        <p:nvSpPr>
          <p:cNvPr id="8" name="Limites"/>
          <p:cNvSpPr txBox="1"/>
          <p:nvPr/>
        </p:nvSpPr>
        <p:spPr>
          <a:xfrm>
            <a:off x="841248" y="4069080"/>
            <a:ext cx="10058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lang="pt-BR" b="1">
                <a:solidFill>
                  <a:srgbClr val="0F4334"/>
                </a:solidFill>
              </a:rPr>
              <a:t>Limites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2200" lang="pt-BR" b="0">
                <a:solidFill>
                  <a:srgbClr val="1F2A2E"/>
                </a:solidFill>
              </a:rPr>
              <a:t>Agrupa só descritores idênticos, não famílias de moléculas parecidas</a:t>
            </a:r>
          </a:p>
          <a:p>
            <a:pPr algn="l" marL="228600" indent="-228600">
              <a:spcAft>
                <a:spcPts val="400"/>
              </a:spcAft>
              <a:buChar char="•"/>
            </a:pPr>
            <a:r>
              <a:rPr sz="2200" lang="pt-BR" b="0">
                <a:solidFill>
                  <a:srgbClr val="1F2A2E"/>
                </a:solidFill>
              </a:rPr>
              <a:t>Escolhe sempre uma de 4 classes</a:t>
            </a:r>
          </a:p>
          <a:p>
            <a:pPr algn="l" marL="228600" indent="-228600">
              <a:buChar char="•"/>
            </a:pPr>
            <a:r>
              <a:rPr sz="2200" lang="pt-BR" b="0">
                <a:solidFill>
                  <a:srgbClr val="1F2A2E"/>
                </a:solidFill>
              </a:rPr>
              <a:t>Sem validação externa</a:t>
            </a:r>
          </a:p>
        </p:txBody>
      </p:sp>
      <p:sp>
        <p:nvSpPr>
          <p:cNvPr id="9" name="Repositório"/>
          <p:cNvSpPr txBox="1"/>
          <p:nvPr/>
        </p:nvSpPr>
        <p:spPr>
          <a:xfrm>
            <a:off x="841248" y="589788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lang="pt-BR" b="1">
                <a:solidFill>
                  <a:srgbClr val="1F2A2E"/>
                </a:solidFill>
              </a:rPr>
              <a:t>Código e dados: </a:t>
            </a:r>
            <a:r>
              <a:rPr sz="2000" lang="pt-BR" b="0">
                <a:solidFill>
                  <a:srgbClr val="1F2A2E"/>
                </a:solidFill>
              </a:rPr>
              <a:t>github.com/pumba-dev/machine-learning-practice</a:t>
            </a:r>
            <a:r>
              <a:rPr sz="2000" lang="pt-BR" b="1">
                <a:solidFill>
                  <a:srgbClr val="09846C"/>
                </a:solidFill>
              </a:rPr>
              <a:t>  ·  Perguntas?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Classificação de alvos proteicos a partir de descritores moleculares do ChEMBL com árvores de decisão</dc:title>
  <dc:creator>Bernan R. do Nascimento; Paulo E. R. Araujo; Thiago R. P. de Carvalho</dc:creator>
  <cp:lastModifiedBy>comunicacao</cp:lastModifiedBy>
  <cp:revision>1</cp:revision>
  <dcterms:created xsi:type="dcterms:W3CDTF">2024-11-28T15:41:31Z</dcterms:created>
  <dcterms:modified xsi:type="dcterms:W3CDTF">2024-11-28T15:41:53Z</dcterms:modified>
  <dc:language>pt-BR</dc:language>
</cp:coreProperties>
</file>